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TIANLONG ELECTRONICS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201168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India Market Entry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548640" y="29260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Pre-Decision Strategy Review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3749040"/>
            <a:ext cx="457200" cy="45720"/>
          </a:xfrm>
          <a:prstGeom prst="rect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4023360"/>
            <a:ext cx="10972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for: </a:t>
            </a:r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Tianlong Board of Directors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Owner: </a:t>
            </a:r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Office (W. Lin, R. Mehta)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Date: </a:t>
            </a:r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 2026  |  Status: Pre-decision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62179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INTERNAL DRAFT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/  AGENDA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 will cover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365760" cy="36576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5087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97280" y="146304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Context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206240" y="14630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India, why now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011680"/>
            <a:ext cx="365760" cy="36576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0116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97280" y="196596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Market scan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206240" y="19659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Size, structure, tier-mix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2514600"/>
            <a:ext cx="365760" cy="36576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5146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97280" y="246888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Competitive map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206240" y="24688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white space sits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3017520"/>
            <a:ext cx="365760" cy="36576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0175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97280" y="297180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Prior precedents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206240" y="29718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worked in earlier Chinese-OEM entries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48640" y="3520440"/>
            <a:ext cx="365760" cy="36576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3520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97280" y="347472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Investment frame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206240" y="34747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Capex, hurdle, payback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48640" y="4023360"/>
            <a:ext cx="365760" cy="36576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40233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097280" y="397764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Margin profile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206240" y="39776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price tier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548640" y="4526280"/>
            <a:ext cx="365760" cy="36576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45262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097280" y="448056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Geography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4206240" y="44805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go first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548640" y="5029200"/>
            <a:ext cx="365760" cy="36576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8640" y="50292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1097280" y="498348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Risks &amp; decision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4206240" y="49834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could break the case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457200" y="649224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Tianlong Electronics  |  Strategy Office  |  Internal — Board Pre-Read  |  Mar 2026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1064240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/  CONTEXT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India is back on the table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forces converging</a:t>
            </a:r>
            <a:endParaRPr lang="en-US" sz="1400" dirty="0"/>
          </a:p>
          <a:p>
            <a:pPr indent="0" marL="0">
              <a:buNone/>
            </a:pPr>
            <a:r>
              <a:rPr lang="en-US" sz="1400" b="1" spc="3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2026 the right entry window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377440"/>
            <a:ext cx="11064240" cy="1188720"/>
          </a:xfrm>
          <a:prstGeom prst="rect">
            <a:avLst/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2377440"/>
            <a:ext cx="109728" cy="1188720"/>
          </a:xfrm>
          <a:prstGeom prst="rect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5146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68680" y="27889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World's #2 smartphone market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68680" y="31546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~206M handset units / yr (headline); sub-Rs 25K segment is the growth core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749040"/>
            <a:ext cx="11064240" cy="1188720"/>
          </a:xfrm>
          <a:prstGeom prst="rect">
            <a:avLst/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3749040"/>
            <a:ext cx="109728" cy="1188720"/>
          </a:xfrm>
          <a:prstGeom prst="rect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38862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68680" y="41605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Production-Linked Incentive (PLI)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68680" y="45262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MeitY incentive on local manufacturing; ~6% effective rebate over 4 yrs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5120640"/>
            <a:ext cx="11064240" cy="1188720"/>
          </a:xfrm>
          <a:prstGeom prst="rect">
            <a:avLst/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5120640"/>
            <a:ext cx="109728" cy="1188720"/>
          </a:xfrm>
          <a:prstGeom prst="rect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5257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68680" y="55321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Mid-tier softening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68680" y="58978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Mid-tier incumbents (Realme &amp; OPPO) lost share in 2025; sub-Rs 12K vacancy after multiple Chinese-OEM exits 2018-2022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" y="649224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Tianlong Electronics  |  Strategy Office  |  Internal — Board Pre-Read  |  Mar 2026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064240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/  MARKET SCAN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India smartphone market at a glance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2697480" cy="1828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91640"/>
            <a:ext cx="2697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1.43B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48640" y="251460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Population (2026E)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288036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DESA WPP 2024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410712" y="1554480"/>
            <a:ext cx="2697480" cy="1828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10712" y="1691640"/>
            <a:ext cx="2697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76%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3410712" y="251460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Smartphone penetration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410712" y="288036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Counterpoint 2024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272784" y="1554480"/>
            <a:ext cx="2697480" cy="1828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72784" y="1691640"/>
            <a:ext cx="2697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206M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6272784" y="251460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handset shipments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272784" y="288036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 figure (IDC India MMP)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9134856" y="1554480"/>
            <a:ext cx="2697480" cy="1828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34856" y="1691640"/>
            <a:ext cx="2697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140M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9134856" y="251460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Sub-Rs 25K segment (units)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134856" y="288036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Headline; see market data file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48640" y="37490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Volume share by ASP band (CY2025A, headline)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48640" y="4160520"/>
            <a:ext cx="1548994" cy="640080"/>
          </a:xfrm>
          <a:prstGeom prst="rect">
            <a:avLst/>
          </a:prstGeom>
          <a:solidFill>
            <a:srgbClr val="F2A9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4160520"/>
            <a:ext cx="154899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Rs 8K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14%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097634" y="4160520"/>
            <a:ext cx="2544775" cy="640080"/>
          </a:xfrm>
          <a:prstGeom prst="rect">
            <a:avLst/>
          </a:prstGeom>
          <a:solidFill>
            <a:srgbClr val="F2A9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097634" y="4160520"/>
            <a:ext cx="254477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 8-12K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23%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642409" y="4160520"/>
            <a:ext cx="1770278" cy="640080"/>
          </a:xfrm>
          <a:prstGeom prst="rect">
            <a:avLst/>
          </a:prstGeom>
          <a:solidFill>
            <a:srgbClr val="F2A9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42409" y="4160520"/>
            <a:ext cx="177027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 12-15K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16%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412687" y="4160520"/>
            <a:ext cx="1659636" cy="640080"/>
          </a:xfrm>
          <a:prstGeom prst="rect">
            <a:avLst/>
          </a:prstGeom>
          <a:solidFill>
            <a:srgbClr val="F2A9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12687" y="4160520"/>
            <a:ext cx="165963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 15-25K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072323" y="4160520"/>
            <a:ext cx="1770278" cy="640080"/>
          </a:xfrm>
          <a:prstGeom prst="rect">
            <a:avLst/>
          </a:prstGeom>
          <a:solidFill>
            <a:srgbClr val="B8C2D9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072323" y="4160520"/>
            <a:ext cx="177027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 25-40K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9842602" y="4160520"/>
            <a:ext cx="1770278" cy="640080"/>
          </a:xfrm>
          <a:prstGeom prst="rect">
            <a:avLst/>
          </a:prstGeom>
          <a:solidFill>
            <a:srgbClr val="B8C2D9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842602" y="4160520"/>
            <a:ext cx="177027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 40K+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16%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48640" y="4937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Highlighted bands = sub-Rs 25K segment (68% of shipments).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57200" y="649224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Tianlong Electronics  |  Strategy Office  |  Internal — Board Pre-Read  |  Mar 2026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064240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/  COMPETITIVE LANDSCAPE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Sub-Rs 25K segment is fragmented but contestable</a:t>
            </a:r>
            <a:endParaRPr lang="en-US" sz="2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06424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1828800"/>
                <a:gridCol w="2286000"/>
                <a:gridCol w="374904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Brand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share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Sub-Rs 25K share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Xiaomi (incl. POCO)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20.1%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Sub-Rs 15K leadership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Samsung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13.4%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Strongest mid-premium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Vivo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14.8%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16.9%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Offline channel strength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11.2%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14.6%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Aggressive sub-Rs 12K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OPPO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11.3%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Slipping in 2025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Premium only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Others (incl. Motorola, OnePlus, Nothing)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23.0%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23.7%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Long tail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02920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 space: a high-design sub-brand at Rs 12-25K, online-led, offline-supported. Multiple sub-brand exits 2018-2022 left no clean replacement.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457200" y="649224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Tianlong Electronics  |  Strategy Office  |  Internal — Board Pre-Read  |  Mar 2026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064240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/  PRIOR PRECEDENTS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worked in earlier Chinese-OEM India entries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640080" cy="64008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002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2A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371600" y="15544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Sub-brand architecture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371600" y="19659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Successful entrants launched a separate online-first sub-brand at sub-Rs 12K. Single-brand entries did not clear 2% share at Year 5.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560320"/>
            <a:ext cx="640080" cy="64008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5603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2A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371600" y="25146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Local R&amp;D footprint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371600" y="29260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Visible Indian engineering centre + local recruitment shifted brand perception measurably within 18 months.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520440"/>
            <a:ext cx="640080" cy="64008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5204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2A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371600" y="34747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Make-in-India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371600" y="38862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Successful entrants participated early; reduced import-duty exposure on CBU vs SKD/CKD.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4480560"/>
            <a:ext cx="640080" cy="64008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44805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2A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371600" y="44348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Online-first channel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371600" y="48463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Launched online-exclusive on Flipkart / Amazon, expanded to traditional trade in year 2.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48640" y="557784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Read-across: only entrants combining all four design choices sustained &gt;4% Year-5 share. Source: anonymized precedent research brief (File 2) and competitor entry log (File 4).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649224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Tianlong Electronics  |  Strategy Office  |  Internal — Board Pre-Read  |  Mar 2026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064240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/  CHANNEL VIEW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the units actually move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303520" y="155448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766560" y="155448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0" y="15544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920240"/>
            <a:ext cx="11064240" cy="0"/>
          </a:xfrm>
          <a:prstGeom prst="line">
            <a:avLst/>
          </a:prstGeom>
          <a:noFill/>
          <a:ln w="19050">
            <a:solidFill>
              <a:srgbClr val="B8C2D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0574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(Flipkart, Amazon)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303520" y="205740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47%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766560" y="205740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44%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29600" y="20574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Sub-Rs 25K skews online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26517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Trade (Croma, Reliance Digital)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303520" y="265176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12%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766560" y="265176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16%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229600" y="26517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skew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8640" y="32461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Trade (mobile retailers)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303520" y="324612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38%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766560" y="324612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37%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229600" y="32461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3+ dominant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48640" y="38404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Stores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303520" y="384048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3%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766560" y="384048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3%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229600" y="38404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Apple, Samsung exclusive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48640" y="48463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48640" y="516636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Online-first launch with selective offline expansion in year 2 mirrors the successful prior-entrant pattern.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57200" y="649224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Tianlong Electronics  |  Strategy Office  |  Internal — Board Pre-Read  |  Mar 2026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064240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/  ENTRY OPTIONS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paths considered, one preferred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611880" cy="4297680"/>
          </a:xfrm>
          <a:prstGeom prst="rect">
            <a:avLst/>
          </a:prstGeom>
          <a:solidFill>
            <a:srgbClr val="F4F6FB"/>
          </a:solidFill>
          <a:ln w="12700">
            <a:solidFill>
              <a:srgbClr val="B8C2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78308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A. Single brand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77240" y="228600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Tianlong only, all tiers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77240" y="30175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" y="329184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Simpler ops; brand consolidation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77240" y="42062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77240" y="4480560"/>
            <a:ext cx="3200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defensible sub-Rs 12K play; conflicts with premium ambition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25112" y="1554480"/>
            <a:ext cx="3611880" cy="42976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068312" y="1691640"/>
            <a:ext cx="777240" cy="292608"/>
          </a:xfrm>
          <a:prstGeom prst="rect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068312" y="1691640"/>
            <a:ext cx="777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PREFERRED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553712" y="178308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B. Dual brand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553712" y="228600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Sub-brand sub-Rs 12K + Tianlong main Rs 12-25K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53712" y="30175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53712" y="329184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Mirrors successful prior-entrant pattern; addresses 100% of sub-Rs 25K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53712" y="42062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53712" y="4480560"/>
            <a:ext cx="3200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channel &amp; marketing cost in Yr1-2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101584" y="1554480"/>
            <a:ext cx="3611880" cy="4297680"/>
          </a:xfrm>
          <a:prstGeom prst="rect">
            <a:avLst/>
          </a:prstGeom>
          <a:solidFill>
            <a:srgbClr val="F4F6FB"/>
          </a:solidFill>
          <a:ln w="12700">
            <a:solidFill>
              <a:srgbClr val="B8C2D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330184" y="178308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C. Distributor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8330184" y="228600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License + distribute via Indian partner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330184" y="30175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330184" y="329184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capex (~$15M); fastest TTM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330184" y="42062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330184" y="4480560"/>
            <a:ext cx="3200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brand control; ~3% margin; not strategic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57200" y="649224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Tianlong Electronics  |  Strategy Office  |  Internal — Board Pre-Read  |  Mar 2026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064240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16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/  INVESTMENT FRAME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Capex envelope and return hurdles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611880" cy="21945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554480"/>
            <a:ext cx="3611880" cy="109728"/>
          </a:xfrm>
          <a:prstGeom prst="rect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783080"/>
            <a:ext cx="3611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USD 80M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548640" y="2697480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spc="3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Capex ceiling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1520" y="3108960"/>
            <a:ext cx="3246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years 0-2; not extendable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25112" y="1554480"/>
            <a:ext cx="3611880" cy="21945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25112" y="1554480"/>
            <a:ext cx="3611880" cy="109728"/>
          </a:xfrm>
          <a:prstGeom prst="rect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25112" y="1783080"/>
            <a:ext cx="3611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18%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4325112" y="2697480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spc="3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 hurdle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07992" y="3108960"/>
            <a:ext cx="3246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Project-level, post-tax, 5-yr horizon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101584" y="1554480"/>
            <a:ext cx="3611880" cy="21945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101584" y="1554480"/>
            <a:ext cx="3611880" cy="109728"/>
          </a:xfrm>
          <a:prstGeom prst="rect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101584" y="1783080"/>
            <a:ext cx="3611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 years</a:t>
            </a:r>
            <a:endParaRPr lang="en-US" sz="4000" dirty="0"/>
          </a:p>
        </p:txBody>
      </p:sp>
      <p:sp>
        <p:nvSpPr>
          <p:cNvPr id="17" name="Text 15"/>
          <p:cNvSpPr/>
          <p:nvPr/>
        </p:nvSpPr>
        <p:spPr>
          <a:xfrm>
            <a:off x="8101584" y="2697480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spc="3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Payback expectation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284464" y="3108960"/>
            <a:ext cx="3246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Cumulative gross profit covers capex by Yr4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48640" y="4023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Indicative capex profile (USD M)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48640" y="443484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Yr 0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463040" y="44348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R&amp;D centre, BIS cert, channel onboarding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869680" y="44348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 35M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48640" y="480060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Yr 1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463040" y="48006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Marketing, working capital, SKD setup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869680" y="48006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 25M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48640" y="51663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Yr 2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463040" y="51663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CKD line, Tier-2 expansion, repair network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869680" y="51663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 20M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48640" y="553212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463040" y="55321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(must be ≤ USD 80M)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869680" y="55321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 80M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48640" y="5486400"/>
            <a:ext cx="11064240" cy="0"/>
          </a:xfrm>
          <a:prstGeom prst="line">
            <a:avLst/>
          </a:prstGeom>
          <a:noFill/>
          <a:ln w="12700">
            <a:solidFill>
              <a:srgbClr val="B8C2D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8640" y="59893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18% hurdle is the post-tax project IRR threshold approved by the Group Finance Committee on 14 Jan 2026.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57200" y="649224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Tianlong Electronics  |  Strategy Office  |  Internal — Board Pre-Read  |  Mar 2026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064240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16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 /  REVENUE BUILD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Bottoms-up funnel from population to SOM (headline view)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1064240" cy="502920"/>
          </a:xfrm>
          <a:prstGeom prst="rect">
            <a:avLst/>
          </a:prstGeom>
          <a:solidFill>
            <a:srgbClr val="CADCF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508760"/>
            <a:ext cx="7406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Population (2026E)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955280" y="150876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1,430 M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22960" y="2103120"/>
            <a:ext cx="10515600" cy="502920"/>
          </a:xfrm>
          <a:prstGeom prst="rect">
            <a:avLst/>
          </a:prstGeom>
          <a:solidFill>
            <a:srgbClr val="CADCF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2103120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Smartphone-eligible cohort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680960" y="210312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580 M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097280" y="2697480"/>
            <a:ext cx="9966960" cy="502920"/>
          </a:xfrm>
          <a:prstGeom prst="rect">
            <a:avLst/>
          </a:prstGeom>
          <a:solidFill>
            <a:srgbClr val="CADCF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80160" y="2697480"/>
            <a:ext cx="6309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handset shipments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406640" y="269748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206 M units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1371600" y="3291840"/>
            <a:ext cx="9418320" cy="502920"/>
          </a:xfrm>
          <a:prstGeom prst="rect">
            <a:avLst/>
          </a:prstGeom>
          <a:solidFill>
            <a:srgbClr val="CADCF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554480" y="3291840"/>
            <a:ext cx="5760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Sub-Rs 25K segment (headline; 68%)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132320" y="329184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140 M units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1645920" y="3886200"/>
            <a:ext cx="8869680" cy="502920"/>
          </a:xfrm>
          <a:prstGeom prst="rect">
            <a:avLst/>
          </a:prstGeom>
          <a:solidFill>
            <a:srgbClr val="CADCF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828800" y="3886200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Sub-Rs 25K TAM revenue (USD)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858000" y="388620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 23.2 B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1920240" y="4480560"/>
            <a:ext cx="832104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103120" y="4480560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(Tier-1 + Top-50 Tier-2; 45%)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583680" y="448056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 10.4 B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2194560" y="5074920"/>
            <a:ext cx="7772400" cy="502920"/>
          </a:xfrm>
          <a:prstGeom prst="rect">
            <a:avLst/>
          </a:prstGeom>
          <a:solidFill>
            <a:srgbClr val="F2A93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377440" y="507492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 Yr 5 at 4% target share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309360" y="507492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 417 M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48640" y="58521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 view. Refer to source-data methodology before finalising.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9224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Tianlong Electronics  |  Strategy Office  |  Internal — Board Pre-Read  |  Mar 2026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064240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16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 /  5-YEAR PROJECTION (HEADLINE)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Revenue and gross profit ramp on headline basis (USD M)</a:t>
            </a:r>
            <a:endParaRPr lang="en-US" sz="28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6424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1572768"/>
                <a:gridCol w="1572768"/>
                <a:gridCol w="1572768"/>
                <a:gridCol w="1572768"/>
                <a:gridCol w="1572768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Yr 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Yr 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Yr 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Yr 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Yr 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 of SAM (%)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2.5%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3.3%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Units (M)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2.52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ASP (Rs)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14,500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14,500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14,500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14,500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14,500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 (USD M)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Gross profit (14%)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Cumulative GP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470916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Computed against headline TAM (140M) and SAM (45% → 63M units). 14% sub-Rs 25K gross margin per Slide 12. Source caveats apply (see market data file).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57200" y="649224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Tianlong Electronics  |  Strategy Office  |  Internal — Board Pre-Read  |  Mar 2026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064240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16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 /  MARGIN PROFILE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Gross margin by price tier (Tianlong global benchmark)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49240" cy="2286000"/>
          </a:xfrm>
          <a:prstGeom prst="rect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783080"/>
            <a:ext cx="53492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14%</a:t>
            </a:r>
            <a:endParaRPr lang="en-US" sz="8000" dirty="0"/>
          </a:p>
        </p:txBody>
      </p:sp>
      <p:sp>
        <p:nvSpPr>
          <p:cNvPr id="6" name="Text 4"/>
          <p:cNvSpPr/>
          <p:nvPr/>
        </p:nvSpPr>
        <p:spPr>
          <a:xfrm>
            <a:off x="548640" y="2971800"/>
            <a:ext cx="5349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Sub-Rs 25K SKUs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3429000"/>
            <a:ext cx="5349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margin (post BOM, pre opex)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263640" y="1554480"/>
            <a:ext cx="5349240" cy="2286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63640" y="1783080"/>
            <a:ext cx="53492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22%</a:t>
            </a:r>
            <a:endParaRPr lang="en-US" sz="8000" dirty="0"/>
          </a:p>
        </p:txBody>
      </p:sp>
      <p:sp>
        <p:nvSpPr>
          <p:cNvPr id="10" name="Text 8"/>
          <p:cNvSpPr/>
          <p:nvPr/>
        </p:nvSpPr>
        <p:spPr>
          <a:xfrm>
            <a:off x="6263640" y="2971800"/>
            <a:ext cx="5349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Premium SKUs (Rs 25K+)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263640" y="3429000"/>
            <a:ext cx="5349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margin (post BOM, pre opex)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41148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the gap?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8640" y="4434840"/>
            <a:ext cx="110642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BOM dominance: </a:t>
            </a:r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Sub-Rs 25K BOM is 78% of ASP vs. 65% for premium
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margin: </a:t>
            </a:r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online-led sub-Rs 25K leaves 4-6% to retailer; offline premium absorbs 9-11%
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 lift: </a:t>
            </a:r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moving 100bps from sub-Rs 25K to premium adds ~25bps to blended GM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" y="608076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deck uses the 14% sub-Rs 25K margin for India entry modelling.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9224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Tianlong Electronics  |  Strategy Office  |  Internal — Board Pre-Read  |  Mar 2026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064240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16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 /  IRR &amp; SENSITIVITY (HEADLINE BASIS)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Headline base case clears 18% hurdle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4114800" cy="41148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1945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4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 BASE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2606040"/>
            <a:ext cx="4114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22.8%</a:t>
            </a:r>
            <a:endParaRPr lang="en-US" sz="8000" dirty="0"/>
          </a:p>
        </p:txBody>
      </p:sp>
      <p:sp>
        <p:nvSpPr>
          <p:cNvPr id="7" name="Text 5"/>
          <p:cNvSpPr/>
          <p:nvPr/>
        </p:nvSpPr>
        <p:spPr>
          <a:xfrm>
            <a:off x="548640" y="41148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IRR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45262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18% hurdle  →  +480 bps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937760" y="155448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Sensitivity (project IRR)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937760" y="2057400"/>
            <a:ext cx="6858000" cy="502920"/>
          </a:xfrm>
          <a:prstGeom prst="rect">
            <a:avLst/>
          </a:prstGeom>
          <a:solidFill>
            <a:srgbClr val="F4F6FB"/>
          </a:solidFill>
          <a:ln w="6350">
            <a:solidFill>
              <a:srgbClr val="B8C2D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74920" y="205740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Yr-5 share at 3% (vs 4%)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601200" y="205740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17.9%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937760" y="2697480"/>
            <a:ext cx="6858000" cy="502920"/>
          </a:xfrm>
          <a:prstGeom prst="rect">
            <a:avLst/>
          </a:prstGeom>
          <a:solidFill>
            <a:srgbClr val="F4F6FB"/>
          </a:solidFill>
          <a:ln w="6350">
            <a:solidFill>
              <a:srgbClr val="B8C2D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74920" y="269748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 -200 bps (12%)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601200" y="269748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18.1%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937760" y="3337560"/>
            <a:ext cx="6858000" cy="502920"/>
          </a:xfrm>
          <a:prstGeom prst="rect">
            <a:avLst/>
          </a:prstGeom>
          <a:solidFill>
            <a:srgbClr val="F4F6FB"/>
          </a:solidFill>
          <a:ln w="6350">
            <a:solidFill>
              <a:srgbClr val="B8C2D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74920" y="333756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FX -5%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601200" y="333756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20.6%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937760" y="3977640"/>
            <a:ext cx="6858000" cy="502920"/>
          </a:xfrm>
          <a:prstGeom prst="rect">
            <a:avLst/>
          </a:prstGeom>
          <a:solidFill>
            <a:srgbClr val="F4F6FB"/>
          </a:solidFill>
          <a:ln w="6350">
            <a:solidFill>
              <a:srgbClr val="B8C2D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74920" y="397764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 cut -10% (cohort revision)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601200" y="397764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19.3%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937760" y="4617720"/>
            <a:ext cx="6858000" cy="502920"/>
          </a:xfrm>
          <a:prstGeom prst="rect">
            <a:avLst/>
          </a:prstGeom>
          <a:solidFill>
            <a:srgbClr val="F4F6FB"/>
          </a:solidFill>
          <a:ln w="6350">
            <a:solidFill>
              <a:srgbClr val="B8C2D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74920" y="461772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 cut -17% (see methodology)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601200" y="461772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17.0%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57200" y="649224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Tianlong Electronics  |  Strategy Office  |  Internal — Board Pre-Read  |  Mar 2026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064240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16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 /  GEOGRAPHY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we go first — and what we leave for Phase 2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6424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6916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SAM DEFINITION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" y="196596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Tier-1 cities + Top-50 Tier-2 cities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11064240" cy="685800"/>
          </a:xfrm>
          <a:prstGeom prst="rect">
            <a:avLst/>
          </a:prstGeom>
          <a:solidFill>
            <a:srgbClr val="CADCFC"/>
          </a:solidFill>
          <a:ln w="6350">
            <a:solidFill>
              <a:srgbClr val="B8C2D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2743200"/>
            <a:ext cx="109728" cy="685800"/>
          </a:xfrm>
          <a:prstGeom prst="rect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2743200"/>
            <a:ext cx="1554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Tier 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423160" y="2743200"/>
            <a:ext cx="1097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168 M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520440" y="2743200"/>
            <a:ext cx="5120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cities (Mumbai, Delhi, Bengaluru, Chennai, Hyderabad, Kolkata, Pune, Ahmedabad)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41080" y="2743200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Premium-skew; ~25% of SAM units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3520440"/>
            <a:ext cx="11064240" cy="685800"/>
          </a:xfrm>
          <a:prstGeom prst="rect">
            <a:avLst/>
          </a:prstGeom>
          <a:solidFill>
            <a:srgbClr val="CADCFC"/>
          </a:solidFill>
          <a:ln w="6350">
            <a:solidFill>
              <a:srgbClr val="B8C2D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3520440"/>
            <a:ext cx="109728" cy="685800"/>
          </a:xfrm>
          <a:prstGeom prst="rect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" y="3520440"/>
            <a:ext cx="1554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Tier 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423160" y="3520440"/>
            <a:ext cx="1097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220 M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520440" y="3520440"/>
            <a:ext cx="5120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50 by GDP (Jaipur, Lucknow, Coimbatore, Kochi, Surat, etc.)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641080" y="3520440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Mid-tier core; ~75% of SAM units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4297680"/>
            <a:ext cx="11064240" cy="685800"/>
          </a:xfrm>
          <a:prstGeom prst="rect">
            <a:avLst/>
          </a:prstGeom>
          <a:solidFill>
            <a:srgbClr val="F4F6FB"/>
          </a:solidFill>
          <a:ln w="6350">
            <a:solidFill>
              <a:srgbClr val="B8C2D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68680" y="4297680"/>
            <a:ext cx="1554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Tier 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2423160" y="4297680"/>
            <a:ext cx="1097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195 M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520440" y="4297680"/>
            <a:ext cx="5120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Cities 51-200 by population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641080" y="4297680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(Yr 3+); sub-Rs 12K dominated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5074920"/>
            <a:ext cx="11064240" cy="685800"/>
          </a:xfrm>
          <a:prstGeom prst="rect">
            <a:avLst/>
          </a:prstGeom>
          <a:solidFill>
            <a:srgbClr val="F4F6FB"/>
          </a:solidFill>
          <a:ln w="6350">
            <a:solidFill>
              <a:srgbClr val="B8C2D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68680" y="5074920"/>
            <a:ext cx="1554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Tier 4 + Rural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2423160" y="5074920"/>
            <a:ext cx="1097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847 M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520440" y="5074920"/>
            <a:ext cx="5120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Towns and rural India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641080" y="5074920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scope for Phase 1; distribution gap too large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48640" y="59893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Highlighted = in Phase 1 SAM. Tier-1 + Top-50 Tier-2 = ~388 M people, ~45% of national handset demand.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57200" y="649224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Tianlong Electronics  |  Strategy Office  |  Internal — Board Pre-Read  |  Mar 2026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064240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16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 /  RISKS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could break the case</a:t>
            </a:r>
            <a:endParaRPr lang="en-US" sz="28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6424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463040"/>
                <a:gridCol w="1463040"/>
                <a:gridCol w="539496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Likelihood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Impact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Mitigation / Note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Country-of-origin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B77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i="1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Chinese-brand perception remains a tailwind only when tied to local R&amp;D + Make-in-India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Source-data accuracy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B77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i="1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Headline TAM may include non-addressable B2B/refurb/feature-phone categories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FX volatility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B77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B77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i="1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INR depreciation of 5%+ vs USD compresses landed margin by ~150 bps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Competitive response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B77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i="1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Realme/Xiaomi can match price within 60-90 days; differentiation must rest on design + camera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Channel access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B77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B77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i="1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Flipkart/Amazon exclusivity windows are competitive; partnership risk in Yr 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49224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Tianlong Electronics  |  Strategy Office  |  Internal — Board Pre-Read  |  Mar 2026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064240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16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DECISION ASK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Approve India entry?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457200" cy="54864"/>
          </a:xfrm>
          <a:prstGeom prst="rect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1031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pending DRA analysis. Inputs to verify before sign-off: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788920"/>
            <a:ext cx="228600" cy="228600"/>
          </a:xfrm>
          <a:prstGeom prst="ellipse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6974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of headline TAM against source-data methodology (categories included vs addressable)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3291840"/>
            <a:ext cx="228600" cy="228600"/>
          </a:xfrm>
          <a:prstGeom prst="ellipse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32004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Sub-brand vs single-brand architecture decision (with read-across from prior-entrant precedent research)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3794760"/>
            <a:ext cx="228600" cy="228600"/>
          </a:xfrm>
          <a:prstGeom prst="ellipse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37033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capital and channel-onboarding profile in years 1-2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4297680"/>
            <a:ext cx="228600" cy="228600"/>
          </a:xfrm>
          <a:prstGeom prst="ellipse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42062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Make-in-India / PLI registration approach (CBU vs SKD vs CKD progression)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4800600"/>
            <a:ext cx="228600" cy="228600"/>
          </a:xfrm>
          <a:prstGeom prst="ellipse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47091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 sensitivity to BOM cost inflation in sub-Rs 25K SKUs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5303520"/>
            <a:ext cx="228600" cy="228600"/>
          </a:xfrm>
          <a:prstGeom prst="ellipse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52120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Realised vs target IRR threshold under conservative-case assumptions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48640" y="62179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required: 14 days. Capex commitment: USD 80M. Hurdle: 18% project IRR.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India Entry — Pre-Decision Strategy Review</dc:title>
  <dc:subject>PptxGenJS Presentation</dc:subject>
  <dc:creator>Tianlong Strategy Office</dc:creator>
  <cp:lastModifiedBy>Tianlong Strategy Office</cp:lastModifiedBy>
  <cp:revision>1</cp:revision>
  <dcterms:created xsi:type="dcterms:W3CDTF">2026-04-26T19:43:38Z</dcterms:created>
  <dcterms:modified xsi:type="dcterms:W3CDTF">2026-04-26T19:43:38Z</dcterms:modified>
</cp:coreProperties>
</file>
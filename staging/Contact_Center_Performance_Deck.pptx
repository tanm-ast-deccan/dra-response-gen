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66cc5a9be_0_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66cc5a9b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66cc5a9b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66cc5a9b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66cc5a9b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66cc5a9b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66cc5a9b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66cc5a9be_0_7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66cc5a9be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66cc5a9be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66cc5a9be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66cc5a9be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66cc5a9be_0_11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66cc5a9be_0_1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66cc5a9be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66cc5a9be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66cc5a9be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66cc5a9be_0_1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66cc5a9be_0_1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66cc5a9be_6_0)">
  <p:cSld name="Generated (g3e66cc5a9be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571500" y="1524000"/>
            <a:ext cx="38100" cy="1143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4"/>
          <p:cNvSpPr txBox="1"/>
          <p:nvPr/>
        </p:nvSpPr>
        <p:spPr>
          <a:xfrm>
            <a:off x="762000" y="1428750"/>
            <a:ext cx="7620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QUICK TELECOM</a:t>
            </a:r>
            <a:endParaRPr b="1" sz="42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CONTACT CENTER</a:t>
            </a:r>
            <a:endParaRPr b="1" sz="42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762000" y="276225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3F51B5"/>
                </a:solidFill>
                <a:latin typeface="Arial"/>
                <a:ea typeface="Arial"/>
                <a:cs typeface="Arial"/>
                <a:sym typeface="Arial"/>
              </a:rPr>
              <a:t>PERFORMANCE DECK</a:t>
            </a:r>
            <a:endParaRPr b="0" sz="1800">
              <a:solidFill>
                <a:srgbClr val="3F51B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5C6BC0"/>
                </a:solidFill>
                <a:latin typeface="Arial"/>
                <a:ea typeface="Arial"/>
                <a:cs typeface="Arial"/>
                <a:sym typeface="Arial"/>
              </a:rPr>
              <a:t>Q4 FY26 Performance Review | January 2026</a:t>
            </a:r>
            <a:endParaRPr b="0" sz="1400">
              <a:solidFill>
                <a:srgbClr val="5C6B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14"/>
          <p:cNvCxnSpPr/>
          <p:nvPr/>
        </p:nvCxnSpPr>
        <p:spPr>
          <a:xfrm>
            <a:off x="571500" y="43815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/>
        </p:nvSpPr>
        <p:spPr>
          <a:xfrm>
            <a:off x="571500" y="45243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Confidential – Internal Use Only</a:t>
            </a:r>
            <a:endParaRPr b="0" sz="11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0" y="32385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381000" y="381000"/>
            <a:ext cx="381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381000" y="28575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1" sz="36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381000" y="1333500"/>
            <a:ext cx="2667000" cy="2857500"/>
            <a:chOff x="381000" y="1333500"/>
            <a:chExt cx="2667000" cy="2857500"/>
          </a:xfrm>
        </p:grpSpPr>
        <p:sp>
          <p:nvSpPr>
            <p:cNvPr id="68" name="Google Shape;68;p15"/>
            <p:cNvSpPr/>
            <p:nvPr/>
          </p:nvSpPr>
          <p:spPr>
            <a:xfrm>
              <a:off x="381000" y="13335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4300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571500" y="1524000"/>
              <a:ext cx="22860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Operational Performance</a:t>
              </a:r>
              <a:endParaRPr b="1" sz="1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• Service Level: </a:t>
              </a:r>
              <a:r>
                <a:rPr b="1" lang="en" sz="12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78%</a:t>
              </a: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(target 85%)</a:t>
              </a:r>
              <a:endParaRPr b="0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1500"/>
                </a:spcAft>
                <a:buNone/>
              </a:pP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• Avg Handle Time: </a:t>
              </a:r>
              <a:r>
                <a:rPr b="1" lang="en" sz="12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6.8 min</a:t>
              </a: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(target 5.5 min)</a:t>
              </a:r>
              <a:endParaRPr b="0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3238500" y="1333500"/>
            <a:ext cx="2667000" cy="2857500"/>
            <a:chOff x="3238500" y="1333500"/>
            <a:chExt cx="2667000" cy="2857500"/>
          </a:xfrm>
        </p:grpSpPr>
        <p:sp>
          <p:nvSpPr>
            <p:cNvPr id="71" name="Google Shape;71;p15"/>
            <p:cNvSpPr/>
            <p:nvPr/>
          </p:nvSpPr>
          <p:spPr>
            <a:xfrm>
              <a:off x="3238500" y="13335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4300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3429000" y="1524000"/>
              <a:ext cx="22860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Customer Experience</a:t>
              </a:r>
              <a:endParaRPr b="1" sz="1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• NPS: </a:t>
              </a:r>
              <a:r>
                <a:rPr b="1" lang="en" sz="12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71</a:t>
              </a: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(target 80)</a:t>
              </a:r>
              <a:endParaRPr b="0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1500"/>
                </a:spcAft>
                <a:buNone/>
              </a:pP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• ESG Impact: </a:t>
              </a:r>
              <a:r>
                <a:rPr b="1" lang="en" sz="12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67%</a:t>
              </a: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paperless interactions</a:t>
              </a:r>
              <a:endParaRPr b="0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6096000" y="1333500"/>
            <a:ext cx="2667000" cy="2857500"/>
            <a:chOff x="6096000" y="1333500"/>
            <a:chExt cx="2667000" cy="2857500"/>
          </a:xfrm>
        </p:grpSpPr>
        <p:sp>
          <p:nvSpPr>
            <p:cNvPr id="74" name="Google Shape;74;p15"/>
            <p:cNvSpPr/>
            <p:nvPr/>
          </p:nvSpPr>
          <p:spPr>
            <a:xfrm>
              <a:off x="6096000" y="13335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4300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6286500" y="1524000"/>
              <a:ext cx="22860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Efficiency &amp; Innovation</a:t>
              </a:r>
              <a:endParaRPr b="1" sz="1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• Cost per Call: </a:t>
              </a:r>
              <a:r>
                <a:rPr b="1" lang="en" sz="12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₹48</a:t>
              </a: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(vs ₹51 prev qtr)</a:t>
              </a:r>
              <a:endParaRPr b="0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1500"/>
                </a:spcAft>
                <a:buNone/>
              </a:pP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• AI Adoption: </a:t>
              </a:r>
              <a:r>
                <a:rPr b="1" lang="en" sz="12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34%</a:t>
              </a:r>
              <a:r>
                <a:rPr b="0" lang="en" sz="12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queries handled</a:t>
              </a:r>
              <a:endParaRPr b="0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6" name="Google Shape;76;p15"/>
          <p:cNvCxnSpPr/>
          <p:nvPr/>
        </p:nvCxnSpPr>
        <p:spPr>
          <a:xfrm>
            <a:off x="381000" y="485775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5"/>
          <p:cNvSpPr txBox="1"/>
          <p:nvPr/>
        </p:nvSpPr>
        <p:spPr>
          <a:xfrm>
            <a:off x="381000" y="4905375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Confidential – Internal Use Only</a:t>
            </a:r>
            <a:endParaRPr b="0" sz="9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571500" y="523875"/>
            <a:ext cx="38100" cy="476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762000" y="38100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Key Performance Metrics</a:t>
            </a:r>
            <a:endParaRPr b="1" sz="36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16"/>
          <p:cNvGrpSpPr/>
          <p:nvPr/>
        </p:nvGrpSpPr>
        <p:grpSpPr>
          <a:xfrm>
            <a:off x="571500" y="1333500"/>
            <a:ext cx="8286600" cy="2667000"/>
            <a:chOff x="571500" y="1333500"/>
            <a:chExt cx="8286600" cy="2667000"/>
          </a:xfrm>
        </p:grpSpPr>
        <p:sp>
          <p:nvSpPr>
            <p:cNvPr id="85" name="Google Shape;85;p16"/>
            <p:cNvSpPr/>
            <p:nvPr/>
          </p:nvSpPr>
          <p:spPr>
            <a:xfrm>
              <a:off x="571500" y="1333500"/>
              <a:ext cx="2000100" cy="26670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 txBox="1"/>
            <p:nvPr/>
          </p:nvSpPr>
          <p:spPr>
            <a:xfrm>
              <a:off x="714375" y="1524000"/>
              <a:ext cx="1714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Service Efficiency</a:t>
              </a:r>
              <a:endParaRPr b="1" sz="13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Service Level:</a:t>
              </a:r>
              <a:b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" sz="18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78%</a:t>
              </a:r>
              <a:b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1000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rPr>
                <a:t>↑3 pp QoQ</a:t>
              </a:r>
              <a:endParaRPr b="0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Avg Handle Time:</a:t>
              </a:r>
              <a:b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" sz="18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6.8 min</a:t>
              </a:r>
              <a:b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1000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rPr>
                <a:t>↓0.4 min QoQ</a:t>
              </a:r>
              <a:endParaRPr b="0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2667000" y="1333500"/>
              <a:ext cx="2000100" cy="26670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2809875" y="1524000"/>
              <a:ext cx="1714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Customer Satisfaction</a:t>
              </a:r>
              <a:endParaRPr b="1" sz="13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First Call Resolution:</a:t>
              </a:r>
              <a:b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" sz="18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71%</a:t>
              </a:r>
              <a:endParaRPr b="0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NPS:</a:t>
              </a:r>
              <a:b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" sz="18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71</a:t>
              </a:r>
              <a:b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1000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rPr>
                <a:t>↑2 points QoQ</a:t>
              </a:r>
              <a:endParaRPr b="0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4762500" y="1333500"/>
              <a:ext cx="2000100" cy="26670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4905375" y="1524000"/>
              <a:ext cx="1714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Workforce Performance</a:t>
              </a:r>
              <a:endParaRPr b="1" sz="13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Agent Utilization:</a:t>
              </a:r>
              <a:b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" sz="18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76%</a:t>
              </a:r>
              <a:endParaRPr b="0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Abandonment Rate:</a:t>
              </a:r>
              <a:b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" sz="18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4.8%</a:t>
              </a:r>
              <a:endParaRPr b="0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6858000" y="1333500"/>
              <a:ext cx="2000100" cy="26670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7000875" y="1524000"/>
              <a:ext cx="1714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Operational Costs</a:t>
              </a:r>
              <a:endParaRPr b="1" sz="13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Cost per Call:</a:t>
              </a:r>
              <a:br>
                <a:rPr b="0" lang="en" sz="1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" sz="18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₹48</a:t>
              </a:r>
              <a:endParaRPr b="0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3" name="Google Shape;93;p16"/>
          <p:cNvCxnSpPr/>
          <p:nvPr/>
        </p:nvCxnSpPr>
        <p:spPr>
          <a:xfrm>
            <a:off x="571500" y="43815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6"/>
          <p:cNvSpPr txBox="1"/>
          <p:nvPr/>
        </p:nvSpPr>
        <p:spPr>
          <a:xfrm>
            <a:off x="571500" y="4524375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Confidential – Internal Use Only</a:t>
            </a:r>
            <a:endParaRPr sz="11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381000" y="381000"/>
            <a:ext cx="381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571500" y="28575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Industry Benchmark Comparison</a:t>
            </a:r>
            <a:endParaRPr b="1" sz="36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17"/>
          <p:cNvGrpSpPr/>
          <p:nvPr/>
        </p:nvGrpSpPr>
        <p:grpSpPr>
          <a:xfrm>
            <a:off x="381000" y="1333500"/>
            <a:ext cx="8458200" cy="2476500"/>
            <a:chOff x="381000" y="1333500"/>
            <a:chExt cx="8458200" cy="2476500"/>
          </a:xfrm>
        </p:grpSpPr>
        <p:sp>
          <p:nvSpPr>
            <p:cNvPr id="102" name="Google Shape;102;p17"/>
            <p:cNvSpPr/>
            <p:nvPr/>
          </p:nvSpPr>
          <p:spPr>
            <a:xfrm>
              <a:off x="381000" y="1333500"/>
              <a:ext cx="1600200" cy="2476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 txBox="1"/>
            <p:nvPr/>
          </p:nvSpPr>
          <p:spPr>
            <a:xfrm>
              <a:off x="523875" y="1476375"/>
              <a:ext cx="13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Service Level</a:t>
              </a:r>
              <a:endParaRPr b="1" sz="13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88%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Top Quartile</a:t>
              </a:r>
              <a:endParaRPr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2095500" y="1333500"/>
              <a:ext cx="1600200" cy="2476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 txBox="1"/>
            <p:nvPr/>
          </p:nvSpPr>
          <p:spPr>
            <a:xfrm>
              <a:off x="2238375" y="1476375"/>
              <a:ext cx="13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AHT</a:t>
              </a:r>
              <a:endParaRPr b="1" sz="13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5.5 min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Top Quartile</a:t>
              </a:r>
              <a:endParaRPr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3810000" y="1333500"/>
              <a:ext cx="1600200" cy="2476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3952875" y="1476375"/>
              <a:ext cx="13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FCR</a:t>
              </a:r>
              <a:endParaRPr b="1" sz="13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82%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Top Quartile</a:t>
              </a:r>
              <a:endParaRPr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5524500" y="1333500"/>
              <a:ext cx="1600200" cy="2476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5667375" y="1476375"/>
              <a:ext cx="13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Cost / Call</a:t>
              </a:r>
              <a:endParaRPr b="1" sz="13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₹32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Top Quartile</a:t>
              </a:r>
              <a:endParaRPr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7239000" y="1333500"/>
              <a:ext cx="1600200" cy="2476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7381875" y="1476375"/>
              <a:ext cx="13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NPS</a:t>
              </a:r>
              <a:endParaRPr b="1" sz="13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82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Top Quartile</a:t>
              </a:r>
              <a:endParaRPr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2" name="Google Shape;112;p17"/>
          <p:cNvCxnSpPr/>
          <p:nvPr/>
        </p:nvCxnSpPr>
        <p:spPr>
          <a:xfrm>
            <a:off x="381000" y="4381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17"/>
          <p:cNvSpPr txBox="1"/>
          <p:nvPr/>
        </p:nvSpPr>
        <p:spPr>
          <a:xfrm>
            <a:off x="381000" y="4524375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Confidential – Internal Use Only</a:t>
            </a:r>
            <a:endParaRPr sz="11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381000" y="381000"/>
            <a:ext cx="381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571500" y="28575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Performance Gap Analysis</a:t>
            </a:r>
            <a:endParaRPr b="1" sz="36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18"/>
          <p:cNvGrpSpPr/>
          <p:nvPr/>
        </p:nvGrpSpPr>
        <p:grpSpPr>
          <a:xfrm>
            <a:off x="381000" y="1333500"/>
            <a:ext cx="1600200" cy="2476500"/>
            <a:chOff x="381000" y="1333500"/>
            <a:chExt cx="1600200" cy="2476500"/>
          </a:xfrm>
        </p:grpSpPr>
        <p:sp>
          <p:nvSpPr>
            <p:cNvPr id="120" name="Google Shape;120;p18"/>
            <p:cNvSpPr/>
            <p:nvPr/>
          </p:nvSpPr>
          <p:spPr>
            <a:xfrm>
              <a:off x="381000" y="1333500"/>
              <a:ext cx="1600200" cy="2476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 txBox="1"/>
            <p:nvPr/>
          </p:nvSpPr>
          <p:spPr>
            <a:xfrm>
              <a:off x="523875" y="1476375"/>
              <a:ext cx="13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Service Level Gap</a:t>
              </a:r>
              <a:endParaRPr b="1" sz="1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10 pp</a:t>
              </a:r>
              <a:endParaRPr b="1" sz="240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Below Top Quartile</a:t>
              </a:r>
              <a:endParaRPr b="0"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18"/>
          <p:cNvGrpSpPr/>
          <p:nvPr/>
        </p:nvGrpSpPr>
        <p:grpSpPr>
          <a:xfrm>
            <a:off x="2095500" y="1333500"/>
            <a:ext cx="1600200" cy="2476500"/>
            <a:chOff x="2095500" y="1333500"/>
            <a:chExt cx="1600200" cy="2476500"/>
          </a:xfrm>
        </p:grpSpPr>
        <p:sp>
          <p:nvSpPr>
            <p:cNvPr id="123" name="Google Shape;123;p18"/>
            <p:cNvSpPr/>
            <p:nvPr/>
          </p:nvSpPr>
          <p:spPr>
            <a:xfrm>
              <a:off x="2095500" y="1333500"/>
              <a:ext cx="1600200" cy="2476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8"/>
            <p:cNvSpPr txBox="1"/>
            <p:nvPr/>
          </p:nvSpPr>
          <p:spPr>
            <a:xfrm>
              <a:off x="2238375" y="1476375"/>
              <a:ext cx="13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AHT Gap</a:t>
              </a:r>
              <a:endParaRPr b="1" sz="1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1.3 min</a:t>
              </a:r>
              <a:endParaRPr b="1" sz="240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Efficiency Delta</a:t>
              </a:r>
              <a:endParaRPr b="0"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18"/>
          <p:cNvGrpSpPr/>
          <p:nvPr/>
        </p:nvGrpSpPr>
        <p:grpSpPr>
          <a:xfrm>
            <a:off x="3810000" y="1333500"/>
            <a:ext cx="1600200" cy="2476500"/>
            <a:chOff x="3810000" y="1333500"/>
            <a:chExt cx="1600200" cy="2476500"/>
          </a:xfrm>
        </p:grpSpPr>
        <p:sp>
          <p:nvSpPr>
            <p:cNvPr id="126" name="Google Shape;126;p18"/>
            <p:cNvSpPr/>
            <p:nvPr/>
          </p:nvSpPr>
          <p:spPr>
            <a:xfrm>
              <a:off x="3810000" y="1333500"/>
              <a:ext cx="1600200" cy="2476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3952875" y="1476375"/>
              <a:ext cx="13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FCR Gap</a:t>
              </a:r>
              <a:endParaRPr b="1" sz="1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11 pp</a:t>
              </a:r>
              <a:endParaRPr b="1" sz="240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Resolution Gap</a:t>
              </a:r>
              <a:endParaRPr b="0"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18"/>
          <p:cNvGrpSpPr/>
          <p:nvPr/>
        </p:nvGrpSpPr>
        <p:grpSpPr>
          <a:xfrm>
            <a:off x="5524500" y="1333500"/>
            <a:ext cx="1600200" cy="2476500"/>
            <a:chOff x="5524500" y="1333500"/>
            <a:chExt cx="1600200" cy="2476500"/>
          </a:xfrm>
        </p:grpSpPr>
        <p:sp>
          <p:nvSpPr>
            <p:cNvPr id="129" name="Google Shape;129;p18"/>
            <p:cNvSpPr/>
            <p:nvPr/>
          </p:nvSpPr>
          <p:spPr>
            <a:xfrm>
              <a:off x="5524500" y="1333500"/>
              <a:ext cx="1600200" cy="2476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 txBox="1"/>
            <p:nvPr/>
          </p:nvSpPr>
          <p:spPr>
            <a:xfrm>
              <a:off x="5667375" y="1476375"/>
              <a:ext cx="13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Cost / Call Gap</a:t>
              </a:r>
              <a:endParaRPr b="1" sz="1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₹16</a:t>
              </a:r>
              <a:endParaRPr b="1" sz="240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Operational Excess</a:t>
              </a:r>
              <a:endParaRPr b="0"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18"/>
          <p:cNvGrpSpPr/>
          <p:nvPr/>
        </p:nvGrpSpPr>
        <p:grpSpPr>
          <a:xfrm>
            <a:off x="7239000" y="1333500"/>
            <a:ext cx="1600200" cy="2476500"/>
            <a:chOff x="7239000" y="1333500"/>
            <a:chExt cx="1600200" cy="2476500"/>
          </a:xfrm>
        </p:grpSpPr>
        <p:sp>
          <p:nvSpPr>
            <p:cNvPr id="132" name="Google Shape;132;p18"/>
            <p:cNvSpPr/>
            <p:nvPr/>
          </p:nvSpPr>
          <p:spPr>
            <a:xfrm>
              <a:off x="7239000" y="1333500"/>
              <a:ext cx="1600200" cy="24765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 txBox="1"/>
            <p:nvPr/>
          </p:nvSpPr>
          <p:spPr>
            <a:xfrm>
              <a:off x="7381875" y="1476375"/>
              <a:ext cx="13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NPS Gap</a:t>
              </a:r>
              <a:endParaRPr b="1" sz="16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11 pts</a:t>
              </a:r>
              <a:endParaRPr b="1" sz="240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Sentiment Variance</a:t>
              </a:r>
              <a:endParaRPr b="0"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4" name="Google Shape;134;p18"/>
          <p:cNvCxnSpPr/>
          <p:nvPr/>
        </p:nvCxnSpPr>
        <p:spPr>
          <a:xfrm>
            <a:off x="381000" y="4381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18"/>
          <p:cNvSpPr txBox="1"/>
          <p:nvPr/>
        </p:nvSpPr>
        <p:spPr>
          <a:xfrm>
            <a:off x="381000" y="4524375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Confidential – Internal Use Only</a:t>
            </a:r>
            <a:endParaRPr b="0" sz="11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381000" y="381000"/>
            <a:ext cx="381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571500" y="28575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Marketing &amp; Growth Initiatives</a:t>
            </a:r>
            <a:endParaRPr b="1" sz="32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19"/>
          <p:cNvGrpSpPr/>
          <p:nvPr/>
        </p:nvGrpSpPr>
        <p:grpSpPr>
          <a:xfrm>
            <a:off x="381000" y="1238250"/>
            <a:ext cx="4095900" cy="1428900"/>
            <a:chOff x="381000" y="1238250"/>
            <a:chExt cx="4095900" cy="1428900"/>
          </a:xfrm>
        </p:grpSpPr>
        <p:sp>
          <p:nvSpPr>
            <p:cNvPr id="143" name="Google Shape;143;p19"/>
            <p:cNvSpPr/>
            <p:nvPr/>
          </p:nvSpPr>
          <p:spPr>
            <a:xfrm>
              <a:off x="381000" y="12382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9"/>
            <p:cNvSpPr txBox="1"/>
            <p:nvPr/>
          </p:nvSpPr>
          <p:spPr>
            <a:xfrm>
              <a:off x="571500" y="138112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New “5G Launch” Campaign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2.8x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Call volume generated during peak week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4667250" y="1238250"/>
            <a:ext cx="4095900" cy="1428900"/>
            <a:chOff x="4667250" y="1238250"/>
            <a:chExt cx="4095900" cy="1428900"/>
          </a:xfrm>
        </p:grpSpPr>
        <p:sp>
          <p:nvSpPr>
            <p:cNvPr id="146" name="Google Shape;146;p19"/>
            <p:cNvSpPr/>
            <p:nvPr/>
          </p:nvSpPr>
          <p:spPr>
            <a:xfrm>
              <a:off x="4667250" y="12382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 txBox="1"/>
            <p:nvPr/>
          </p:nvSpPr>
          <p:spPr>
            <a:xfrm>
              <a:off x="4857750" y="138112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Influencer Partnerships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47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Micro-influencers across 8 cities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381000" y="2857500"/>
            <a:ext cx="4095900" cy="1428900"/>
            <a:chOff x="381000" y="2857500"/>
            <a:chExt cx="4095900" cy="1428900"/>
          </a:xfrm>
        </p:grpSpPr>
        <p:sp>
          <p:nvSpPr>
            <p:cNvPr id="149" name="Google Shape;149;p19"/>
            <p:cNvSpPr/>
            <p:nvPr/>
          </p:nvSpPr>
          <p:spPr>
            <a:xfrm>
              <a:off x="381000" y="28575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 txBox="1"/>
            <p:nvPr/>
          </p:nvSpPr>
          <p:spPr>
            <a:xfrm>
              <a:off x="571500" y="3000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“QuickFix” App Campaign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2.4 Million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Downloads achieved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4667250" y="2857500"/>
            <a:ext cx="4095900" cy="1428900"/>
            <a:chOff x="4667250" y="2857500"/>
            <a:chExt cx="4095900" cy="1428900"/>
          </a:xfrm>
        </p:grpSpPr>
        <p:sp>
          <p:nvSpPr>
            <p:cNvPr id="152" name="Google Shape;152;p19"/>
            <p:cNvSpPr/>
            <p:nvPr/>
          </p:nvSpPr>
          <p:spPr>
            <a:xfrm>
              <a:off x="4667250" y="28575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 txBox="1"/>
            <p:nvPr/>
          </p:nvSpPr>
          <p:spPr>
            <a:xfrm>
              <a:off x="4857750" y="3000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Strategic Partnerships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Zomato &amp; Swiggy</a:t>
              </a:r>
              <a:endParaRPr b="1" sz="20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Cross-promotion completed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19"/>
          <p:cNvSpPr txBox="1"/>
          <p:nvPr/>
        </p:nvSpPr>
        <p:spPr>
          <a:xfrm>
            <a:off x="381000" y="4572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Confidential – Internal Use Only</a:t>
            </a:r>
            <a:endParaRPr b="0" sz="10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>
            <a:off x="381000" y="381000"/>
            <a:ext cx="381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571500" y="28575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ESG &amp; Sustainability Update</a:t>
            </a:r>
            <a:endParaRPr b="1" sz="32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20"/>
          <p:cNvGrpSpPr/>
          <p:nvPr/>
        </p:nvGrpSpPr>
        <p:grpSpPr>
          <a:xfrm>
            <a:off x="381000" y="1238250"/>
            <a:ext cx="4095900" cy="1428900"/>
            <a:chOff x="381000" y="1238250"/>
            <a:chExt cx="4095900" cy="1428900"/>
          </a:xfrm>
        </p:grpSpPr>
        <p:sp>
          <p:nvSpPr>
            <p:cNvPr id="162" name="Google Shape;162;p20"/>
            <p:cNvSpPr/>
            <p:nvPr/>
          </p:nvSpPr>
          <p:spPr>
            <a:xfrm>
              <a:off x="381000" y="12382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0"/>
            <p:cNvSpPr txBox="1"/>
            <p:nvPr/>
          </p:nvSpPr>
          <p:spPr>
            <a:xfrm>
              <a:off x="571500" y="138112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Paperless Interactions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67%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Of customer interactions are now paperless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20"/>
          <p:cNvGrpSpPr/>
          <p:nvPr/>
        </p:nvGrpSpPr>
        <p:grpSpPr>
          <a:xfrm>
            <a:off x="4667250" y="1238250"/>
            <a:ext cx="4095900" cy="1428900"/>
            <a:chOff x="4667250" y="1238250"/>
            <a:chExt cx="4095900" cy="1428900"/>
          </a:xfrm>
        </p:grpSpPr>
        <p:sp>
          <p:nvSpPr>
            <p:cNvPr id="165" name="Google Shape;165;p20"/>
            <p:cNvSpPr/>
            <p:nvPr/>
          </p:nvSpPr>
          <p:spPr>
            <a:xfrm>
              <a:off x="4667250" y="12382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0"/>
            <p:cNvSpPr txBox="1"/>
            <p:nvPr/>
          </p:nvSpPr>
          <p:spPr>
            <a:xfrm>
              <a:off x="4857750" y="138112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Carbon-Neutral Ops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4 Cities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Contact center operations achieved neutrality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20"/>
          <p:cNvGrpSpPr/>
          <p:nvPr/>
        </p:nvGrpSpPr>
        <p:grpSpPr>
          <a:xfrm>
            <a:off x="381000" y="2857500"/>
            <a:ext cx="4095900" cy="1428900"/>
            <a:chOff x="381000" y="2857500"/>
            <a:chExt cx="4095900" cy="1428900"/>
          </a:xfrm>
        </p:grpSpPr>
        <p:sp>
          <p:nvSpPr>
            <p:cNvPr id="168" name="Google Shape;168;p20"/>
            <p:cNvSpPr/>
            <p:nvPr/>
          </p:nvSpPr>
          <p:spPr>
            <a:xfrm>
              <a:off x="381000" y="28575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571500" y="3000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Plastic Reduction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1.8 Million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Single-use items avoided via initiative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p20"/>
          <p:cNvGrpSpPr/>
          <p:nvPr/>
        </p:nvGrpSpPr>
        <p:grpSpPr>
          <a:xfrm>
            <a:off x="4667250" y="2857500"/>
            <a:ext cx="4095900" cy="1428900"/>
            <a:chOff x="4667250" y="2857500"/>
            <a:chExt cx="4095900" cy="1428900"/>
          </a:xfrm>
        </p:grpSpPr>
        <p:sp>
          <p:nvSpPr>
            <p:cNvPr id="171" name="Google Shape;171;p20"/>
            <p:cNvSpPr/>
            <p:nvPr/>
          </p:nvSpPr>
          <p:spPr>
            <a:xfrm>
              <a:off x="4667250" y="28575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4857750" y="3000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EV Fleet Expansion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340 Vehicles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Electric vehicles for field technicians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p20"/>
          <p:cNvSpPr txBox="1"/>
          <p:nvPr/>
        </p:nvSpPr>
        <p:spPr>
          <a:xfrm>
            <a:off x="381000" y="4572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Confidential – Internal Use Only</a:t>
            </a:r>
            <a:endParaRPr b="0" sz="10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/>
        </p:nvSpPr>
        <p:spPr>
          <a:xfrm>
            <a:off x="381000" y="381000"/>
            <a:ext cx="381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571500" y="28575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Technology &amp; Digital Roadmap</a:t>
            </a:r>
            <a:endParaRPr b="1" sz="32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21"/>
          <p:cNvGrpSpPr/>
          <p:nvPr/>
        </p:nvGrpSpPr>
        <p:grpSpPr>
          <a:xfrm>
            <a:off x="381000" y="1238250"/>
            <a:ext cx="4095900" cy="1428900"/>
            <a:chOff x="381000" y="1238250"/>
            <a:chExt cx="4095900" cy="1428900"/>
          </a:xfrm>
        </p:grpSpPr>
        <p:sp>
          <p:nvSpPr>
            <p:cNvPr id="180" name="Google Shape;180;p21"/>
            <p:cNvSpPr/>
            <p:nvPr/>
          </p:nvSpPr>
          <p:spPr>
            <a:xfrm>
              <a:off x="381000" y="12382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1"/>
            <p:cNvSpPr txBox="1"/>
            <p:nvPr/>
          </p:nvSpPr>
          <p:spPr>
            <a:xfrm>
              <a:off x="571500" y="138112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AI Chatbot Launch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34%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Total customer queries currently handled by AI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21"/>
          <p:cNvGrpSpPr/>
          <p:nvPr/>
        </p:nvGrpSpPr>
        <p:grpSpPr>
          <a:xfrm>
            <a:off x="4667250" y="1238250"/>
            <a:ext cx="4095900" cy="1428900"/>
            <a:chOff x="4667250" y="1238250"/>
            <a:chExt cx="4095900" cy="1428900"/>
          </a:xfrm>
        </p:grpSpPr>
        <p:sp>
          <p:nvSpPr>
            <p:cNvPr id="183" name="Google Shape;183;p21"/>
            <p:cNvSpPr/>
            <p:nvPr/>
          </p:nvSpPr>
          <p:spPr>
            <a:xfrm>
              <a:off x="4667250" y="12382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1"/>
            <p:cNvSpPr txBox="1"/>
            <p:nvPr/>
          </p:nvSpPr>
          <p:spPr>
            <a:xfrm>
              <a:off x="4857750" y="138112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WhatsApp Integration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28%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Of queries now routed via WhatsApp Business API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21"/>
          <p:cNvGrpSpPr/>
          <p:nvPr/>
        </p:nvGrpSpPr>
        <p:grpSpPr>
          <a:xfrm>
            <a:off x="381000" y="2857500"/>
            <a:ext cx="4095900" cy="1428900"/>
            <a:chOff x="381000" y="2857500"/>
            <a:chExt cx="4095900" cy="1428900"/>
          </a:xfrm>
        </p:grpSpPr>
        <p:sp>
          <p:nvSpPr>
            <p:cNvPr id="186" name="Google Shape;186;p21"/>
            <p:cNvSpPr/>
            <p:nvPr/>
          </p:nvSpPr>
          <p:spPr>
            <a:xfrm>
              <a:off x="381000" y="28575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1"/>
            <p:cNvSpPr txBox="1"/>
            <p:nvPr/>
          </p:nvSpPr>
          <p:spPr>
            <a:xfrm>
              <a:off x="571500" y="3000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“TelePass” Loyalty Program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1.9 Million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Members enrolled in new loyalty initiative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21"/>
          <p:cNvGrpSpPr/>
          <p:nvPr/>
        </p:nvGrpSpPr>
        <p:grpSpPr>
          <a:xfrm>
            <a:off x="4667250" y="2857500"/>
            <a:ext cx="4095900" cy="1428900"/>
            <a:chOff x="4667250" y="2857500"/>
            <a:chExt cx="4095900" cy="1428900"/>
          </a:xfrm>
        </p:grpSpPr>
        <p:sp>
          <p:nvSpPr>
            <p:cNvPr id="189" name="Google Shape;189;p21"/>
            <p:cNvSpPr/>
            <p:nvPr/>
          </p:nvSpPr>
          <p:spPr>
            <a:xfrm>
              <a:off x="4667250" y="28575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1"/>
            <p:cNvSpPr txBox="1"/>
            <p:nvPr/>
          </p:nvSpPr>
          <p:spPr>
            <a:xfrm>
              <a:off x="4857750" y="3000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CRM Upgrade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Completed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Enhanced Customer 360° view operational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21"/>
          <p:cNvSpPr txBox="1"/>
          <p:nvPr/>
        </p:nvSpPr>
        <p:spPr>
          <a:xfrm>
            <a:off x="3810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Confidential – Internal Use Only</a:t>
            </a:r>
            <a:endParaRPr b="0" sz="10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381000" y="381000"/>
            <a:ext cx="381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28575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FY27 Expansion &amp; Investment Plans</a:t>
            </a:r>
            <a:endParaRPr b="1" sz="296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22"/>
          <p:cNvGrpSpPr/>
          <p:nvPr/>
        </p:nvGrpSpPr>
        <p:grpSpPr>
          <a:xfrm>
            <a:off x="381000" y="1238250"/>
            <a:ext cx="4095900" cy="1428900"/>
            <a:chOff x="381000" y="1238250"/>
            <a:chExt cx="4095900" cy="1428900"/>
          </a:xfrm>
        </p:grpSpPr>
        <p:sp>
          <p:nvSpPr>
            <p:cNvPr id="199" name="Google Shape;199;p22"/>
            <p:cNvSpPr/>
            <p:nvPr/>
          </p:nvSpPr>
          <p:spPr>
            <a:xfrm>
              <a:off x="381000" y="12382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 txBox="1"/>
            <p:nvPr/>
          </p:nvSpPr>
          <p:spPr>
            <a:xfrm>
              <a:off x="571500" y="1381125"/>
              <a:ext cx="37149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New Seats Addition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850 Seats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Across 3 new strategic cities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22"/>
          <p:cNvGrpSpPr/>
          <p:nvPr/>
        </p:nvGrpSpPr>
        <p:grpSpPr>
          <a:xfrm>
            <a:off x="4667250" y="1238250"/>
            <a:ext cx="4095900" cy="1428900"/>
            <a:chOff x="4667250" y="1238250"/>
            <a:chExt cx="4095900" cy="1428900"/>
          </a:xfrm>
        </p:grpSpPr>
        <p:sp>
          <p:nvSpPr>
            <p:cNvPr id="202" name="Google Shape;202;p22"/>
            <p:cNvSpPr/>
            <p:nvPr/>
          </p:nvSpPr>
          <p:spPr>
            <a:xfrm>
              <a:off x="4667250" y="12382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2"/>
            <p:cNvSpPr txBox="1"/>
            <p:nvPr/>
          </p:nvSpPr>
          <p:spPr>
            <a:xfrm>
              <a:off x="4857750" y="1381125"/>
              <a:ext cx="37149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Total Capex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₹87 Cr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Allocated for expansion projects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22"/>
          <p:cNvGrpSpPr/>
          <p:nvPr/>
        </p:nvGrpSpPr>
        <p:grpSpPr>
          <a:xfrm>
            <a:off x="381000" y="2857500"/>
            <a:ext cx="4095900" cy="1428900"/>
            <a:chOff x="381000" y="2857500"/>
            <a:chExt cx="4095900" cy="1428900"/>
          </a:xfrm>
        </p:grpSpPr>
        <p:sp>
          <p:nvSpPr>
            <p:cNvPr id="205" name="Google Shape;205;p22"/>
            <p:cNvSpPr/>
            <p:nvPr/>
          </p:nvSpPr>
          <p:spPr>
            <a:xfrm>
              <a:off x="381000" y="28575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571500" y="3000375"/>
              <a:ext cx="37149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Additional Capacity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1.2 Million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Expected calls per month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" name="Google Shape;207;p22"/>
          <p:cNvGrpSpPr/>
          <p:nvPr/>
        </p:nvGrpSpPr>
        <p:grpSpPr>
          <a:xfrm>
            <a:off x="4667250" y="2857500"/>
            <a:ext cx="4095900" cy="1428900"/>
            <a:chOff x="4667250" y="2857500"/>
            <a:chExt cx="4095900" cy="1428900"/>
          </a:xfrm>
        </p:grpSpPr>
        <p:sp>
          <p:nvSpPr>
            <p:cNvPr id="208" name="Google Shape;208;p22"/>
            <p:cNvSpPr/>
            <p:nvPr/>
          </p:nvSpPr>
          <p:spPr>
            <a:xfrm>
              <a:off x="4667250" y="28575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2"/>
            <p:cNvSpPr txBox="1"/>
            <p:nvPr/>
          </p:nvSpPr>
          <p:spPr>
            <a:xfrm>
              <a:off x="4857750" y="3000375"/>
              <a:ext cx="37149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Target Cities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Jaipur, Lucknow, Indore</a:t>
              </a:r>
              <a:endParaRPr b="1" sz="20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Key urban growth hubs identified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p22"/>
          <p:cNvSpPr txBox="1"/>
          <p:nvPr/>
        </p:nvSpPr>
        <p:spPr>
          <a:xfrm>
            <a:off x="381000" y="4572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Confidential – Internal Use Only</a:t>
            </a:r>
            <a:endParaRPr b="0" sz="10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/>
          <p:nvPr/>
        </p:nvSpPr>
        <p:spPr>
          <a:xfrm>
            <a:off x="381000" y="381000"/>
            <a:ext cx="381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571500" y="285750"/>
            <a:ext cx="8191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Risk &amp; Challenges</a:t>
            </a:r>
            <a:endParaRPr b="1" sz="32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23"/>
          <p:cNvGrpSpPr/>
          <p:nvPr/>
        </p:nvGrpSpPr>
        <p:grpSpPr>
          <a:xfrm>
            <a:off x="381000" y="1238250"/>
            <a:ext cx="4095900" cy="1428900"/>
            <a:chOff x="381000" y="1238250"/>
            <a:chExt cx="4095900" cy="1428900"/>
          </a:xfrm>
        </p:grpSpPr>
        <p:sp>
          <p:nvSpPr>
            <p:cNvPr id="218" name="Google Shape;218;p23"/>
            <p:cNvSpPr/>
            <p:nvPr/>
          </p:nvSpPr>
          <p:spPr>
            <a:xfrm>
              <a:off x="381000" y="12382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3"/>
            <p:cNvSpPr txBox="1"/>
            <p:nvPr/>
          </p:nvSpPr>
          <p:spPr>
            <a:xfrm>
              <a:off x="571500" y="1381125"/>
              <a:ext cx="37149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Rising Call Volumes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5G Launch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Increased pressure on support centers following new service rollout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23"/>
          <p:cNvGrpSpPr/>
          <p:nvPr/>
        </p:nvGrpSpPr>
        <p:grpSpPr>
          <a:xfrm>
            <a:off x="4667250" y="1238250"/>
            <a:ext cx="4095900" cy="1428900"/>
            <a:chOff x="4667250" y="1238250"/>
            <a:chExt cx="4095900" cy="1428900"/>
          </a:xfrm>
        </p:grpSpPr>
        <p:sp>
          <p:nvSpPr>
            <p:cNvPr id="221" name="Google Shape;221;p23"/>
            <p:cNvSpPr/>
            <p:nvPr/>
          </p:nvSpPr>
          <p:spPr>
            <a:xfrm>
              <a:off x="4667250" y="123825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3"/>
            <p:cNvSpPr txBox="1"/>
            <p:nvPr/>
          </p:nvSpPr>
          <p:spPr>
            <a:xfrm>
              <a:off x="4857750" y="1381125"/>
              <a:ext cx="37149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Competitive Landscape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Jio &amp; Airtel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Aggressive focus on customer service from primary competitors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23"/>
          <p:cNvGrpSpPr/>
          <p:nvPr/>
        </p:nvGrpSpPr>
        <p:grpSpPr>
          <a:xfrm>
            <a:off x="381000" y="2857500"/>
            <a:ext cx="4095900" cy="1428900"/>
            <a:chOff x="381000" y="2857500"/>
            <a:chExt cx="4095900" cy="1428900"/>
          </a:xfrm>
        </p:grpSpPr>
        <p:sp>
          <p:nvSpPr>
            <p:cNvPr id="224" name="Google Shape;224;p23"/>
            <p:cNvSpPr/>
            <p:nvPr/>
          </p:nvSpPr>
          <p:spPr>
            <a:xfrm>
              <a:off x="381000" y="28575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3"/>
            <p:cNvSpPr txBox="1"/>
            <p:nvPr/>
          </p:nvSpPr>
          <p:spPr>
            <a:xfrm>
              <a:off x="571500" y="3000375"/>
              <a:ext cx="37149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Agent Attrition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18%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Current rate exceeds the industry average of 14%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3"/>
          <p:cNvGrpSpPr/>
          <p:nvPr/>
        </p:nvGrpSpPr>
        <p:grpSpPr>
          <a:xfrm>
            <a:off x="4667250" y="2857500"/>
            <a:ext cx="4095900" cy="1428900"/>
            <a:chOff x="4667250" y="2857500"/>
            <a:chExt cx="4095900" cy="1428900"/>
          </a:xfrm>
        </p:grpSpPr>
        <p:sp>
          <p:nvSpPr>
            <p:cNvPr id="227" name="Google Shape;227;p23"/>
            <p:cNvSpPr/>
            <p:nvPr/>
          </p:nvSpPr>
          <p:spPr>
            <a:xfrm>
              <a:off x="4667250" y="285750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3"/>
            <p:cNvSpPr txBox="1"/>
            <p:nvPr/>
          </p:nvSpPr>
          <p:spPr>
            <a:xfrm>
              <a:off x="4857750" y="3000375"/>
              <a:ext cx="37149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Billing Disputes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Rising Trend</a:t>
              </a:r>
              <a:endParaRPr b="1" sz="1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Increasing frequency of customer complaints regarding invoice accuracy</a:t>
              </a:r>
              <a:endParaRPr b="0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" name="Google Shape;229;p23"/>
          <p:cNvSpPr txBox="1"/>
          <p:nvPr/>
        </p:nvSpPr>
        <p:spPr>
          <a:xfrm>
            <a:off x="381000" y="4572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Confidential – Internal Use Only</a:t>
            </a:r>
            <a:endParaRPr b="0" sz="10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/>
          <p:nvPr/>
        </p:nvSpPr>
        <p:spPr>
          <a:xfrm>
            <a:off x="571500" y="28575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Q1 FY27 Priorities</a:t>
            </a:r>
            <a:endParaRPr b="1" sz="3200">
              <a:solidFill>
                <a:srgbClr val="1A23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" name="Google Shape;235;p24"/>
          <p:cNvGrpSpPr/>
          <p:nvPr/>
        </p:nvGrpSpPr>
        <p:grpSpPr>
          <a:xfrm>
            <a:off x="381000" y="1238250"/>
            <a:ext cx="4095900" cy="952500"/>
            <a:chOff x="381000" y="1238250"/>
            <a:chExt cx="4095900" cy="952500"/>
          </a:xfrm>
        </p:grpSpPr>
        <p:sp>
          <p:nvSpPr>
            <p:cNvPr id="236" name="Google Shape;236;p24"/>
            <p:cNvSpPr/>
            <p:nvPr/>
          </p:nvSpPr>
          <p:spPr>
            <a:xfrm>
              <a:off x="381000" y="123825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4"/>
            <p:cNvSpPr txBox="1"/>
            <p:nvPr/>
          </p:nvSpPr>
          <p:spPr>
            <a:xfrm>
              <a:off x="571500" y="1333500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1. Service Level Improvement</a:t>
              </a:r>
              <a:endParaRPr b="1" sz="1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85%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Target service level for Q1</a:t>
              </a:r>
              <a:endParaRPr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24"/>
          <p:cNvGrpSpPr/>
          <p:nvPr/>
        </p:nvGrpSpPr>
        <p:grpSpPr>
          <a:xfrm>
            <a:off x="4667250" y="1238250"/>
            <a:ext cx="4095900" cy="952500"/>
            <a:chOff x="4667250" y="1238250"/>
            <a:chExt cx="4095900" cy="952500"/>
          </a:xfrm>
        </p:grpSpPr>
        <p:sp>
          <p:nvSpPr>
            <p:cNvPr id="239" name="Google Shape;239;p24"/>
            <p:cNvSpPr/>
            <p:nvPr/>
          </p:nvSpPr>
          <p:spPr>
            <a:xfrm>
              <a:off x="4667250" y="123825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4"/>
            <p:cNvSpPr txBox="1"/>
            <p:nvPr/>
          </p:nvSpPr>
          <p:spPr>
            <a:xfrm>
              <a:off x="4857750" y="1333500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2. Average Handling Time</a:t>
              </a:r>
              <a:endParaRPr b="1" sz="1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6.0 mins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Reduction target for efficiency</a:t>
              </a:r>
              <a:endParaRPr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p24"/>
          <p:cNvGrpSpPr/>
          <p:nvPr/>
        </p:nvGrpSpPr>
        <p:grpSpPr>
          <a:xfrm>
            <a:off x="381000" y="2333625"/>
            <a:ext cx="4095900" cy="952500"/>
            <a:chOff x="381000" y="2333625"/>
            <a:chExt cx="4095900" cy="952500"/>
          </a:xfrm>
        </p:grpSpPr>
        <p:sp>
          <p:nvSpPr>
            <p:cNvPr id="242" name="Google Shape;242;p24"/>
            <p:cNvSpPr/>
            <p:nvPr/>
          </p:nvSpPr>
          <p:spPr>
            <a:xfrm>
              <a:off x="381000" y="2333625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4"/>
            <p:cNvSpPr txBox="1"/>
            <p:nvPr/>
          </p:nvSpPr>
          <p:spPr>
            <a:xfrm>
              <a:off x="571500" y="2428875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3. First Call Resolution</a:t>
              </a:r>
              <a:endParaRPr b="1" sz="1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76%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Goal for resolving issues on first contact</a:t>
              </a:r>
              <a:endParaRPr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p24"/>
          <p:cNvGrpSpPr/>
          <p:nvPr/>
        </p:nvGrpSpPr>
        <p:grpSpPr>
          <a:xfrm>
            <a:off x="4667250" y="2333625"/>
            <a:ext cx="4095900" cy="952500"/>
            <a:chOff x="4667250" y="2333625"/>
            <a:chExt cx="4095900" cy="952500"/>
          </a:xfrm>
        </p:grpSpPr>
        <p:sp>
          <p:nvSpPr>
            <p:cNvPr id="245" name="Google Shape;245;p24"/>
            <p:cNvSpPr/>
            <p:nvPr/>
          </p:nvSpPr>
          <p:spPr>
            <a:xfrm>
              <a:off x="4667250" y="2333625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4"/>
            <p:cNvSpPr txBox="1"/>
            <p:nvPr/>
          </p:nvSpPr>
          <p:spPr>
            <a:xfrm>
              <a:off x="4857750" y="2428875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4. Cost per Call</a:t>
              </a:r>
              <a:endParaRPr b="1" sz="1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₹42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Efficiency objective for call costs</a:t>
              </a:r>
              <a:endParaRPr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24"/>
          <p:cNvGrpSpPr/>
          <p:nvPr/>
        </p:nvGrpSpPr>
        <p:grpSpPr>
          <a:xfrm>
            <a:off x="381000" y="3429000"/>
            <a:ext cx="4095900" cy="952500"/>
            <a:chOff x="381000" y="3429000"/>
            <a:chExt cx="4095900" cy="952500"/>
          </a:xfrm>
        </p:grpSpPr>
        <p:sp>
          <p:nvSpPr>
            <p:cNvPr id="248" name="Google Shape;248;p24"/>
            <p:cNvSpPr/>
            <p:nvPr/>
          </p:nvSpPr>
          <p:spPr>
            <a:xfrm>
              <a:off x="381000" y="342900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4"/>
            <p:cNvSpPr txBox="1"/>
            <p:nvPr/>
          </p:nvSpPr>
          <p:spPr>
            <a:xfrm>
              <a:off x="571500" y="3524250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5. Net Promoter Score</a:t>
              </a:r>
              <a:endParaRPr b="1" sz="12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37E"/>
                  </a:solidFill>
                  <a:latin typeface="Arial"/>
                  <a:ea typeface="Arial"/>
                  <a:cs typeface="Arial"/>
                  <a:sym typeface="Arial"/>
                </a:rPr>
                <a:t>76</a:t>
              </a:r>
              <a:endParaRPr b="1" sz="24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757575"/>
                  </a:solidFill>
                  <a:latin typeface="Arial"/>
                  <a:ea typeface="Arial"/>
                  <a:cs typeface="Arial"/>
                  <a:sym typeface="Arial"/>
                </a:rPr>
                <a:t>Customer loyalty and satisfaction target</a:t>
              </a:r>
              <a:endParaRPr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
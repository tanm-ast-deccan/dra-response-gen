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Inter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65a581659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65a58165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65a581659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65a581659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65a581659_0_7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5a58165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65a58165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5a581659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65a581659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65a581659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65a581659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65a581659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65a581659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65a581659_0_14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65a581659_43_0)">
  <p:cSld name="Generated (g3e65a581659_43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descr="A futuristic, high-tech abstract visualization of a fast-moving logistics network, with glowing blue and teal light trails representing data and delivery paths over a dark city map." id="56" name="Google Shape;5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14"/>
          <p:cNvGrpSpPr/>
          <p:nvPr/>
        </p:nvGrpSpPr>
        <p:grpSpPr>
          <a:xfrm>
            <a:off x="571500" y="1333500"/>
            <a:ext cx="8001000" cy="1905000"/>
            <a:chOff x="571500" y="1333500"/>
            <a:chExt cx="8001000" cy="1905000"/>
          </a:xfrm>
        </p:grpSpPr>
        <p:sp>
          <p:nvSpPr>
            <p:cNvPr id="59" name="Google Shape;59;p14"/>
            <p:cNvSpPr/>
            <p:nvPr/>
          </p:nvSpPr>
          <p:spPr>
            <a:xfrm>
              <a:off x="571500" y="1524000"/>
              <a:ext cx="38100" cy="1143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762000" y="1333500"/>
              <a:ext cx="7810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QUICK COMMERCE PERFORMANCE DECK</a:t>
              </a:r>
              <a:endParaRPr b="0" sz="4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762000" y="28575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Q4 FY26 Performance Review | January 2026</a:t>
              </a:r>
              <a:endParaRPr b="0" sz="2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571500" y="4572000"/>
            <a:ext cx="8001000" cy="428775"/>
            <a:chOff x="571500" y="4572000"/>
            <a:chExt cx="8001000" cy="428775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571500" y="45720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" name="Google Shape;64;p14"/>
            <p:cNvSpPr txBox="1"/>
            <p:nvPr/>
          </p:nvSpPr>
          <p:spPr>
            <a:xfrm>
              <a:off x="571500" y="4714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Confidential – Internal Use Only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5"/>
          <p:cNvGrpSpPr/>
          <p:nvPr/>
        </p:nvGrpSpPr>
        <p:grpSpPr>
          <a:xfrm>
            <a:off x="571500" y="381000"/>
            <a:ext cx="7810500" cy="571500"/>
            <a:chOff x="571500" y="381000"/>
            <a:chExt cx="7810500" cy="571500"/>
          </a:xfrm>
        </p:grpSpPr>
        <p:sp>
          <p:nvSpPr>
            <p:cNvPr id="71" name="Google Shape;71;p15"/>
            <p:cNvSpPr/>
            <p:nvPr/>
          </p:nvSpPr>
          <p:spPr>
            <a:xfrm>
              <a:off x="571500" y="476250"/>
              <a:ext cx="38100" cy="381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762000" y="38100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EXECUTIVE SUMMARY</a:t>
              </a:r>
              <a:endParaRPr b="0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1047750" y="1190625"/>
            <a:ext cx="7429500" cy="2952900"/>
            <a:chOff x="1047750" y="1190625"/>
            <a:chExt cx="7429500" cy="2952900"/>
          </a:xfrm>
        </p:grpSpPr>
        <p:sp>
          <p:nvSpPr>
            <p:cNvPr id="74" name="Google Shape;74;p15"/>
            <p:cNvSpPr txBox="1"/>
            <p:nvPr/>
          </p:nvSpPr>
          <p:spPr>
            <a:xfrm>
              <a:off x="1047750" y="1190625"/>
              <a:ext cx="742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Revenue Growth:</a:t>
              </a:r>
              <a:r>
                <a:rPr lang="en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 Q4 revenue grew 34% YoY, driven by strong festive season performance and Republic Day marketing campaigns.</a:t>
              </a:r>
              <a:endParaRPr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1047750" y="1809750"/>
              <a:ext cx="742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Order Volume:</a:t>
              </a:r>
              <a:r>
                <a:rPr lang="en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 Increased 2.8x during the 10-day Republic Day sale period.</a:t>
              </a:r>
              <a:endParaRPr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1047750" y="2428875"/>
              <a:ext cx="742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ESG Initiatives:</a:t>
              </a:r>
              <a:r>
                <a:rPr lang="en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 67% of orders now use eco-friendly packaging; progress on sustainable packaging and carbon-neutral delivery remains strong.</a:t>
              </a:r>
              <a:endParaRPr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1047750" y="3048000"/>
              <a:ext cx="742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FY27 Expansion:</a:t>
              </a:r>
              <a:r>
                <a:rPr lang="en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 New dark store plan approved: 47 new stores across 12 cities (₹142 Cr capex).</a:t>
              </a:r>
              <a:endParaRPr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047750" y="3667125"/>
              <a:ext cx="742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Customer NPS:</a:t>
              </a:r>
              <a:r>
                <a:rPr lang="en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 Stands at 72 (down 11 points from Q3) — identified as the primary focus area for Q1 FY27.</a:t>
              </a:r>
              <a:endParaRPr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571500" y="4572000"/>
            <a:ext cx="8001000" cy="428775"/>
            <a:chOff x="571500" y="4572000"/>
            <a:chExt cx="8001000" cy="428775"/>
          </a:xfrm>
        </p:grpSpPr>
        <p:cxnSp>
          <p:nvCxnSpPr>
            <p:cNvPr id="80" name="Google Shape;80;p15"/>
            <p:cNvCxnSpPr/>
            <p:nvPr/>
          </p:nvCxnSpPr>
          <p:spPr>
            <a:xfrm>
              <a:off x="571500" y="45720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" name="Google Shape;81;p15"/>
            <p:cNvSpPr txBox="1"/>
            <p:nvPr/>
          </p:nvSpPr>
          <p:spPr>
            <a:xfrm>
              <a:off x="571500" y="4714875"/>
              <a:ext cx="381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Confidential – Internal Use Only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CANCELLATION RATE ANALYSIS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88" name="Google Shape;88;p16"/>
          <p:cNvGrpSpPr/>
          <p:nvPr/>
        </p:nvGrpSpPr>
        <p:grpSpPr>
          <a:xfrm>
            <a:off x="571500" y="1190625"/>
            <a:ext cx="2476500" cy="1714500"/>
            <a:chOff x="571500" y="1190625"/>
            <a:chExt cx="2476500" cy="1714500"/>
          </a:xfrm>
        </p:grpSpPr>
        <p:sp>
          <p:nvSpPr>
            <p:cNvPr id="89" name="Google Shape;89;p16"/>
            <p:cNvSpPr/>
            <p:nvPr/>
          </p:nvSpPr>
          <p:spPr>
            <a:xfrm>
              <a:off x="571500" y="1190625"/>
              <a:ext cx="2476500" cy="1714500"/>
            </a:xfrm>
            <a:prstGeom prst="roundRect">
              <a:avLst>
                <a:gd fmla="val 444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762000" y="1381125"/>
              <a:ext cx="2095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HEADLINE METRIC</a:t>
              </a:r>
              <a:endParaRPr b="1" sz="102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F43F5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14.8%</a:t>
              </a:r>
              <a:endParaRPr b="0" sz="3060">
                <a:solidFill>
                  <a:srgbClr val="F43F5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Q4 Cancellation Rate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vs Q3: </a:t>
              </a:r>
              <a:r>
                <a:rPr b="0" lang="en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6.2%</a:t>
              </a:r>
              <a:br>
                <a:rPr b="0" lang="en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Target: </a:t>
              </a:r>
              <a:r>
                <a:rPr b="0" lang="en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8.0%</a:t>
              </a:r>
              <a:endParaRPr b="0" sz="8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3429000" y="1190625"/>
            <a:ext cx="5143500" cy="2905125"/>
            <a:chOff x="3429000" y="1190625"/>
            <a:chExt cx="5143500" cy="2905125"/>
          </a:xfrm>
        </p:grpSpPr>
        <p:sp>
          <p:nvSpPr>
            <p:cNvPr id="92" name="Google Shape;92;p16"/>
            <p:cNvSpPr txBox="1"/>
            <p:nvPr/>
          </p:nvSpPr>
          <p:spPr>
            <a:xfrm>
              <a:off x="3429000" y="1190625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PRIMARY</a:t>
              </a: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 CANCELLATION DRIVERS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3" name="Google Shape;93;p16"/>
            <p:cNvGrpSpPr/>
            <p:nvPr/>
          </p:nvGrpSpPr>
          <p:grpSpPr>
            <a:xfrm>
              <a:off x="3429000" y="1619250"/>
              <a:ext cx="5143500" cy="381000"/>
              <a:chOff x="3429000" y="1619250"/>
              <a:chExt cx="5143500" cy="381000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3429000" y="1619250"/>
                <a:ext cx="5143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6"/>
              <p:cNvSpPr/>
              <p:nvPr/>
            </p:nvSpPr>
            <p:spPr>
              <a:xfrm>
                <a:off x="3429000" y="1619250"/>
                <a:ext cx="16458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6"/>
              <p:cNvSpPr txBox="1"/>
              <p:nvPr/>
            </p:nvSpPr>
            <p:spPr>
              <a:xfrm>
                <a:off x="3571875" y="1619250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Customer change of mind: </a:t>
                </a:r>
                <a:r>
                  <a:rPr b="1"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32%</a:t>
                </a:r>
                <a:endParaRPr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7" name="Google Shape;97;p16"/>
            <p:cNvGrpSpPr/>
            <p:nvPr/>
          </p:nvGrpSpPr>
          <p:grpSpPr>
            <a:xfrm>
              <a:off x="3429000" y="2143125"/>
              <a:ext cx="5143500" cy="381000"/>
              <a:chOff x="3429000" y="2143125"/>
              <a:chExt cx="5143500" cy="381000"/>
            </a:xfrm>
          </p:grpSpPr>
          <p:sp>
            <p:nvSpPr>
              <p:cNvPr id="98" name="Google Shape;98;p16"/>
              <p:cNvSpPr/>
              <p:nvPr/>
            </p:nvSpPr>
            <p:spPr>
              <a:xfrm>
                <a:off x="3429000" y="2143125"/>
                <a:ext cx="5143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6"/>
              <p:cNvSpPr/>
              <p:nvPr/>
            </p:nvSpPr>
            <p:spPr>
              <a:xfrm>
                <a:off x="3429000" y="2143125"/>
                <a:ext cx="14916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6"/>
              <p:cNvSpPr txBox="1"/>
              <p:nvPr/>
            </p:nvSpPr>
            <p:spPr>
              <a:xfrm>
                <a:off x="3571875" y="2143125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Delivery slot unavailability: </a:t>
                </a:r>
                <a:r>
                  <a:rPr b="1"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29%</a:t>
                </a:r>
                <a:endParaRPr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1" name="Google Shape;101;p16"/>
            <p:cNvGrpSpPr/>
            <p:nvPr/>
          </p:nvGrpSpPr>
          <p:grpSpPr>
            <a:xfrm>
              <a:off x="3429000" y="2667000"/>
              <a:ext cx="5143500" cy="381000"/>
              <a:chOff x="3429000" y="2667000"/>
              <a:chExt cx="5143500" cy="381000"/>
            </a:xfrm>
          </p:grpSpPr>
          <p:sp>
            <p:nvSpPr>
              <p:cNvPr id="102" name="Google Shape;102;p16"/>
              <p:cNvSpPr/>
              <p:nvPr/>
            </p:nvSpPr>
            <p:spPr>
              <a:xfrm>
                <a:off x="3429000" y="2667000"/>
                <a:ext cx="5143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3429000" y="2667000"/>
                <a:ext cx="9258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3571875" y="2667000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App/technical issues: </a:t>
                </a:r>
                <a:r>
                  <a:rPr b="1"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18%</a:t>
                </a:r>
                <a:endParaRPr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5" name="Google Shape;105;p16"/>
            <p:cNvGrpSpPr/>
            <p:nvPr/>
          </p:nvGrpSpPr>
          <p:grpSpPr>
            <a:xfrm>
              <a:off x="3429000" y="3190875"/>
              <a:ext cx="5143500" cy="381000"/>
              <a:chOff x="3429000" y="3190875"/>
              <a:chExt cx="5143500" cy="3810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3429000" y="3190875"/>
                <a:ext cx="5143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3429000" y="3190875"/>
                <a:ext cx="720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 txBox="1"/>
              <p:nvPr/>
            </p:nvSpPr>
            <p:spPr>
              <a:xfrm>
                <a:off x="3571875" y="3190875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Inventory mismatch: </a:t>
                </a:r>
                <a:r>
                  <a:rPr b="1"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14%</a:t>
                </a:r>
                <a:endParaRPr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9" name="Google Shape;109;p16"/>
            <p:cNvGrpSpPr/>
            <p:nvPr/>
          </p:nvGrpSpPr>
          <p:grpSpPr>
            <a:xfrm>
              <a:off x="3429000" y="3714750"/>
              <a:ext cx="5143500" cy="381000"/>
              <a:chOff x="3429000" y="3714750"/>
              <a:chExt cx="5143500" cy="381000"/>
            </a:xfrm>
          </p:grpSpPr>
          <p:sp>
            <p:nvSpPr>
              <p:cNvPr id="110" name="Google Shape;110;p16"/>
              <p:cNvSpPr/>
              <p:nvPr/>
            </p:nvSpPr>
            <p:spPr>
              <a:xfrm>
                <a:off x="3429000" y="3714750"/>
                <a:ext cx="5143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>
                <a:off x="3429000" y="3714750"/>
                <a:ext cx="360000" cy="381000"/>
              </a:xfrm>
              <a:prstGeom prst="roundRect">
                <a:avLst>
                  <a:gd fmla="val 10582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 txBox="1"/>
              <p:nvPr/>
            </p:nvSpPr>
            <p:spPr>
              <a:xfrm>
                <a:off x="3571875" y="3714750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Other: </a:t>
                </a:r>
                <a:r>
                  <a:rPr b="1" lang="en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7%</a:t>
                </a:r>
                <a:endParaRPr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3" name="Google Shape;113;p16"/>
          <p:cNvGrpSpPr/>
          <p:nvPr/>
        </p:nvGrpSpPr>
        <p:grpSpPr>
          <a:xfrm>
            <a:off x="571500" y="4572000"/>
            <a:ext cx="8001000" cy="428775"/>
            <a:chOff x="571500" y="4572000"/>
            <a:chExt cx="8001000" cy="428775"/>
          </a:xfrm>
        </p:grpSpPr>
        <p:cxnSp>
          <p:nvCxnSpPr>
            <p:cNvPr id="114" name="Google Shape;114;p16"/>
            <p:cNvCxnSpPr/>
            <p:nvPr/>
          </p:nvCxnSpPr>
          <p:spPr>
            <a:xfrm>
              <a:off x="571500" y="45720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" name="Google Shape;115;p16"/>
            <p:cNvSpPr txBox="1"/>
            <p:nvPr/>
          </p:nvSpPr>
          <p:spPr>
            <a:xfrm>
              <a:off x="571500" y="4714875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Confidential – Internal Use Only </a:t>
              </a:r>
              <a:endParaRPr b="0" i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*Note: Cancellation rate excludes re-opened and re-cancelled orders</a:t>
              </a:r>
              <a:endParaRPr b="0" i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p16"/>
          <p:cNvGrpSpPr/>
          <p:nvPr/>
        </p:nvGrpSpPr>
        <p:grpSpPr>
          <a:xfrm>
            <a:off x="571500" y="3095625"/>
            <a:ext cx="2476500" cy="1428900"/>
            <a:chOff x="571500" y="3095625"/>
            <a:chExt cx="2476500" cy="1428900"/>
          </a:xfrm>
        </p:grpSpPr>
        <p:sp>
          <p:nvSpPr>
            <p:cNvPr id="117" name="Google Shape;117;p16"/>
            <p:cNvSpPr/>
            <p:nvPr/>
          </p:nvSpPr>
          <p:spPr>
            <a:xfrm>
              <a:off x="571500" y="3095625"/>
              <a:ext cx="24765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714375" y="32385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MARKETING INITIATIVE</a:t>
              </a:r>
              <a:endParaRPr b="1" sz="10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Marketing team is running targeted campaigns to reduce "change of mind" cancellations through better product discovery and personalized recommendations.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COMPETITOR BENCHMARKING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5" name="Google Shape;125;p17"/>
          <p:cNvGrpSpPr/>
          <p:nvPr/>
        </p:nvGrpSpPr>
        <p:grpSpPr>
          <a:xfrm>
            <a:off x="571500" y="1333500"/>
            <a:ext cx="8001000" cy="1333500"/>
            <a:chOff x="571500" y="1333500"/>
            <a:chExt cx="8001000" cy="1333500"/>
          </a:xfrm>
        </p:grpSpPr>
        <p:sp>
          <p:nvSpPr>
            <p:cNvPr id="126" name="Google Shape;126;p17"/>
            <p:cNvSpPr/>
            <p:nvPr/>
          </p:nvSpPr>
          <p:spPr>
            <a:xfrm>
              <a:off x="571500" y="1333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762000" y="1476375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BLINKIT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8.7%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Cancellation Rate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3333750" y="1333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3524250" y="1476375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ZEPTO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9.2%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Cancellation Rate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6096000" y="1333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6286500" y="1476375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SWIGGY INSTAMART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10.1%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Cancellation Rate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2" name="Google Shape;132;p17"/>
          <p:cNvGrpSpPr/>
          <p:nvPr/>
        </p:nvGrpSpPr>
        <p:grpSpPr>
          <a:xfrm>
            <a:off x="571500" y="2952750"/>
            <a:ext cx="8001000" cy="1333500"/>
            <a:chOff x="571500" y="2952750"/>
            <a:chExt cx="8001000" cy="1333500"/>
          </a:xfrm>
        </p:grpSpPr>
        <p:sp>
          <p:nvSpPr>
            <p:cNvPr id="133" name="Google Shape;133;p17"/>
            <p:cNvSpPr/>
            <p:nvPr/>
          </p:nvSpPr>
          <p:spPr>
            <a:xfrm>
              <a:off x="571500" y="2952750"/>
              <a:ext cx="80010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857250" y="3143250"/>
              <a:ext cx="742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STRATEGIC INSIGHT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Our performance is still </a:t>
              </a:r>
              <a:r>
                <a:rPr b="1" lang="en" sz="14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better than industry average</a:t>
              </a:r>
              <a:r>
                <a:rPr b="0" lang="en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in Tier-2 cities, but we are currently </a:t>
              </a:r>
              <a:r>
                <a:rPr b="1" lang="en" sz="140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lagging in metros</a:t>
              </a:r>
              <a:r>
                <a:rPr b="0" lang="en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35" name="Google Shape;135;p17"/>
          <p:cNvCxnSpPr/>
          <p:nvPr/>
        </p:nvCxnSpPr>
        <p:spPr>
          <a:xfrm>
            <a:off x="571500" y="4572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7"/>
          <p:cNvSpPr txBox="1"/>
          <p:nvPr/>
        </p:nvSpPr>
        <p:spPr>
          <a:xfrm>
            <a:off x="571500" y="47148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Confidential – Internal Use Only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MARKETING &amp; GROWTH INITIATIVES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43" name="Google Shape;143;p18"/>
          <p:cNvGrpSpPr/>
          <p:nvPr/>
        </p:nvGrpSpPr>
        <p:grpSpPr>
          <a:xfrm>
            <a:off x="571500" y="1190625"/>
            <a:ext cx="3905400" cy="1428900"/>
            <a:chOff x="571500" y="1190625"/>
            <a:chExt cx="3905400" cy="1428900"/>
          </a:xfrm>
        </p:grpSpPr>
        <p:sp>
          <p:nvSpPr>
            <p:cNvPr id="144" name="Google Shape;144;p18"/>
            <p:cNvSpPr/>
            <p:nvPr/>
          </p:nvSpPr>
          <p:spPr>
            <a:xfrm>
              <a:off x="57150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762000" y="1381125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REPUBLIC DAY CAMPAIGN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2.8x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Order Volume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Generated on ₹8.2 Cr marketing spend.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4667250" y="1190625"/>
            <a:ext cx="3905400" cy="1428900"/>
            <a:chOff x="4667250" y="1190625"/>
            <a:chExt cx="3905400" cy="1428900"/>
          </a:xfrm>
        </p:grpSpPr>
        <p:sp>
          <p:nvSpPr>
            <p:cNvPr id="147" name="Google Shape;147;p18"/>
            <p:cNvSpPr/>
            <p:nvPr/>
          </p:nvSpPr>
          <p:spPr>
            <a:xfrm>
              <a:off x="466725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4857750" y="1381125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INFLUENCER PARTNERSHIPS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47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Micro-Influencers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Campaign active across 8 strategic cities.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571500" y="2857500"/>
            <a:ext cx="3905400" cy="1428900"/>
            <a:chOff x="571500" y="2857500"/>
            <a:chExt cx="3905400" cy="1428900"/>
          </a:xfrm>
        </p:grpSpPr>
        <p:sp>
          <p:nvSpPr>
            <p:cNvPr id="150" name="Google Shape;150;p18"/>
            <p:cNvSpPr/>
            <p:nvPr/>
          </p:nvSpPr>
          <p:spPr>
            <a:xfrm>
              <a:off x="57150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762000" y="3048000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10-MINUTE CHALLENGE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12.4M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Views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Viral campaign on Instagram and YouTube.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18"/>
          <p:cNvGrpSpPr/>
          <p:nvPr/>
        </p:nvGrpSpPr>
        <p:grpSpPr>
          <a:xfrm>
            <a:off x="4667250" y="2857500"/>
            <a:ext cx="3905400" cy="1428900"/>
            <a:chOff x="4667250" y="2857500"/>
            <a:chExt cx="3905400" cy="1428900"/>
          </a:xfrm>
        </p:grpSpPr>
        <p:sp>
          <p:nvSpPr>
            <p:cNvPr id="153" name="Google Shape;153;p18"/>
            <p:cNvSpPr/>
            <p:nvPr/>
          </p:nvSpPr>
          <p:spPr>
            <a:xfrm>
              <a:off x="466725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4857750" y="3048000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ZOMATO GOLD PARTNERSHIP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CROSS-PROMOTION</a:t>
              </a:r>
              <a:endParaRPr b="0" sz="20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Leveraging joint ecosystem for growth.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55" name="Google Shape;155;p18"/>
          <p:cNvCxnSpPr/>
          <p:nvPr/>
        </p:nvCxnSpPr>
        <p:spPr>
          <a:xfrm>
            <a:off x="571500" y="4572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8"/>
          <p:cNvSpPr txBox="1"/>
          <p:nvPr/>
        </p:nvSpPr>
        <p:spPr>
          <a:xfrm>
            <a:off x="571500" y="4714875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Confidential – Internal Use Only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ESG &amp; SUSTAINABILITY UPDATE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63" name="Google Shape;163;p19"/>
          <p:cNvGrpSpPr/>
          <p:nvPr/>
        </p:nvGrpSpPr>
        <p:grpSpPr>
          <a:xfrm>
            <a:off x="571500" y="1190625"/>
            <a:ext cx="3905400" cy="1428900"/>
            <a:chOff x="571500" y="1190625"/>
            <a:chExt cx="3905400" cy="1428900"/>
          </a:xfrm>
        </p:grpSpPr>
        <p:sp>
          <p:nvSpPr>
            <p:cNvPr id="164" name="Google Shape;164;p19"/>
            <p:cNvSpPr/>
            <p:nvPr/>
          </p:nvSpPr>
          <p:spPr>
            <a:xfrm>
              <a:off x="57150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762000" y="1381125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SUSTAINABLE PACKAGING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67%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of orders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Target: 75% by March 2026.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4667250" y="1190625"/>
            <a:ext cx="3905400" cy="1428900"/>
            <a:chOff x="4667250" y="1190625"/>
            <a:chExt cx="3905400" cy="1428900"/>
          </a:xfrm>
        </p:grpSpPr>
        <p:sp>
          <p:nvSpPr>
            <p:cNvPr id="167" name="Google Shape;167;p19"/>
            <p:cNvSpPr/>
            <p:nvPr/>
          </p:nvSpPr>
          <p:spPr>
            <a:xfrm>
              <a:off x="466725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4857750" y="1381125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CARBON-NEUTRAL DELIVERY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14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Cities Achieved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Ongoing expansion to new regions.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571500" y="2857500"/>
            <a:ext cx="3905400" cy="1428900"/>
            <a:chOff x="571500" y="2857500"/>
            <a:chExt cx="3905400" cy="1428900"/>
          </a:xfrm>
        </p:grpSpPr>
        <p:sp>
          <p:nvSpPr>
            <p:cNvPr id="170" name="Google Shape;170;p19"/>
            <p:cNvSpPr/>
            <p:nvPr/>
          </p:nvSpPr>
          <p:spPr>
            <a:xfrm>
              <a:off x="57150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762000" y="3048000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PLASTIC REDUCTION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2.8M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Single-use plastic items avoided.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4667250" y="2857500"/>
            <a:ext cx="3905400" cy="1428900"/>
            <a:chOff x="4667250" y="2857500"/>
            <a:chExt cx="3905400" cy="1428900"/>
          </a:xfrm>
        </p:grpSpPr>
        <p:sp>
          <p:nvSpPr>
            <p:cNvPr id="173" name="Google Shape;173;p19"/>
            <p:cNvSpPr/>
            <p:nvPr/>
          </p:nvSpPr>
          <p:spPr>
            <a:xfrm>
              <a:off x="466725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4857750" y="3048000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EV FLEET EXPANSION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1,240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Vehicles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Representing 42% of total fleet.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75" name="Google Shape;175;p19"/>
          <p:cNvCxnSpPr/>
          <p:nvPr/>
        </p:nvCxnSpPr>
        <p:spPr>
          <a:xfrm>
            <a:off x="571500" y="4572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9"/>
          <p:cNvSpPr txBox="1"/>
          <p:nvPr/>
        </p:nvSpPr>
        <p:spPr>
          <a:xfrm>
            <a:off x="571500" y="4714875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Confidential – Internal Use Only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TECHNOLOGY &amp; PRODUCT ROADMAP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571500" y="1190625"/>
            <a:ext cx="3905400" cy="1428900"/>
            <a:chOff x="571500" y="1190625"/>
            <a:chExt cx="3905400" cy="1428900"/>
          </a:xfrm>
        </p:grpSpPr>
        <p:sp>
          <p:nvSpPr>
            <p:cNvPr id="184" name="Google Shape;184;p20"/>
            <p:cNvSpPr/>
            <p:nvPr/>
          </p:nvSpPr>
          <p:spPr>
            <a:xfrm>
              <a:off x="57150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762000" y="1381125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AI DEMAND FORECASTING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28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Dark Stores (Pilot)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Early results show improved stock availability in pilot locations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4667250" y="1190625"/>
            <a:ext cx="3905400" cy="1428900"/>
            <a:chOff x="4667250" y="1190625"/>
            <a:chExt cx="3905400" cy="1428900"/>
          </a:xfrm>
        </p:grpSpPr>
        <p:sp>
          <p:nvSpPr>
            <p:cNvPr id="187" name="Google Shape;187;p20"/>
            <p:cNvSpPr/>
            <p:nvPr/>
          </p:nvSpPr>
          <p:spPr>
            <a:xfrm>
              <a:off x="466725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4857750" y="1381125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APP REDESIGN PHASE 2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COMPLETED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Improved search and checkout experience.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571500" y="2857500"/>
            <a:ext cx="3905400" cy="1428900"/>
            <a:chOff x="571500" y="2857500"/>
            <a:chExt cx="3905400" cy="1428900"/>
          </a:xfrm>
        </p:grpSpPr>
        <p:sp>
          <p:nvSpPr>
            <p:cNvPr id="190" name="Google Shape;190;p20"/>
            <p:cNvSpPr/>
            <p:nvPr/>
          </p:nvSpPr>
          <p:spPr>
            <a:xfrm>
              <a:off x="57150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762000" y="3048000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UPI INTEGRATION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89%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Orders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Faster payments enabled via UPI.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4667250" y="2857500"/>
            <a:ext cx="3905400" cy="1428900"/>
            <a:chOff x="4667250" y="2857500"/>
            <a:chExt cx="3905400" cy="1428900"/>
          </a:xfrm>
        </p:grpSpPr>
        <p:sp>
          <p:nvSpPr>
            <p:cNvPr id="193" name="Google Shape;193;p20"/>
            <p:cNvSpPr/>
            <p:nvPr/>
          </p:nvSpPr>
          <p:spPr>
            <a:xfrm>
              <a:off x="466725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4857750" y="3048000"/>
              <a:ext cx="3524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QUICKPASS LOYALTY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1.2M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Members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New loyalty program active members.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95" name="Google Shape;195;p20"/>
          <p:cNvCxnSpPr/>
          <p:nvPr/>
        </p:nvCxnSpPr>
        <p:spPr>
          <a:xfrm rot="10800000">
            <a:off x="4572000" y="571500"/>
            <a:ext cx="0" cy="8001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20"/>
          <p:cNvSpPr txBox="1"/>
          <p:nvPr/>
        </p:nvSpPr>
        <p:spPr>
          <a:xfrm>
            <a:off x="571500" y="4714875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Confidential – Internal Use Only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21"/>
          <p:cNvGrpSpPr/>
          <p:nvPr/>
        </p:nvGrpSpPr>
        <p:grpSpPr>
          <a:xfrm>
            <a:off x="762000" y="381000"/>
            <a:ext cx="7620000" cy="571500"/>
            <a:chOff x="762000" y="381000"/>
            <a:chExt cx="7620000" cy="571500"/>
          </a:xfrm>
        </p:grpSpPr>
        <p:sp>
          <p:nvSpPr>
            <p:cNvPr id="203" name="Google Shape;203;p21"/>
            <p:cNvSpPr/>
            <p:nvPr/>
          </p:nvSpPr>
          <p:spPr>
            <a:xfrm>
              <a:off x="762000" y="38100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762000" y="38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FY27 DARK STORE EXPANSION PLAN</a:t>
              </a:r>
              <a:endParaRPr b="0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571500" y="1190625"/>
            <a:ext cx="3905400" cy="1428900"/>
            <a:chOff x="571500" y="1190625"/>
            <a:chExt cx="3905400" cy="1428900"/>
          </a:xfrm>
        </p:grpSpPr>
        <p:sp>
          <p:nvSpPr>
            <p:cNvPr id="206" name="Google Shape;206;p21"/>
            <p:cNvSpPr/>
            <p:nvPr/>
          </p:nvSpPr>
          <p:spPr>
            <a:xfrm>
              <a:off x="57150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762000" y="1381125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EXPANSION SCALE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47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New Stores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Planned across 12 strategic cities.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4667250" y="1190625"/>
            <a:ext cx="3905400" cy="1428900"/>
            <a:chOff x="4667250" y="1190625"/>
            <a:chExt cx="3905400" cy="1428900"/>
          </a:xfrm>
        </p:grpSpPr>
        <p:sp>
          <p:nvSpPr>
            <p:cNvPr id="209" name="Google Shape;209;p21"/>
            <p:cNvSpPr/>
            <p:nvPr/>
          </p:nvSpPr>
          <p:spPr>
            <a:xfrm>
              <a:off x="4667250" y="1190625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4857750" y="1381125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CAPITAL EXPENDITURE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₹142 Cr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Total capex allocated for FY27.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21"/>
          <p:cNvGrpSpPr/>
          <p:nvPr/>
        </p:nvGrpSpPr>
        <p:grpSpPr>
          <a:xfrm>
            <a:off x="571500" y="2857500"/>
            <a:ext cx="3905400" cy="1428900"/>
            <a:chOff x="571500" y="2857500"/>
            <a:chExt cx="3905400" cy="1428900"/>
          </a:xfrm>
        </p:grpSpPr>
        <p:sp>
          <p:nvSpPr>
            <p:cNvPr id="212" name="Google Shape;212;p21"/>
            <p:cNvSpPr/>
            <p:nvPr/>
          </p:nvSpPr>
          <p:spPr>
            <a:xfrm>
              <a:off x="57150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762000" y="30480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EXPECTED CAPACITY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1.8M </a:t>
              </a: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Orders/Month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Additional capacity post-expansion.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21"/>
          <p:cNvGrpSpPr/>
          <p:nvPr/>
        </p:nvGrpSpPr>
        <p:grpSpPr>
          <a:xfrm>
            <a:off x="4667250" y="2857500"/>
            <a:ext cx="3905400" cy="1428900"/>
            <a:chOff x="4667250" y="2857500"/>
            <a:chExt cx="3905400" cy="1428900"/>
          </a:xfrm>
        </p:grpSpPr>
        <p:sp>
          <p:nvSpPr>
            <p:cNvPr id="215" name="Google Shape;215;p21"/>
            <p:cNvSpPr/>
            <p:nvPr/>
          </p:nvSpPr>
          <p:spPr>
            <a:xfrm>
              <a:off x="4667250" y="28575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4857750" y="30480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TARGET CITIES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TIER-2 FOCUS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Jaipur, Lucknow, Indore, Coimbatore, Visakhapatnam, and 7 others.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17" name="Google Shape;217;p21"/>
          <p:cNvCxnSpPr/>
          <p:nvPr/>
        </p:nvCxnSpPr>
        <p:spPr>
          <a:xfrm>
            <a:off x="571500" y="4572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8" name="Google Shape;218;p21"/>
          <p:cNvGrpSpPr/>
          <p:nvPr/>
        </p:nvGrpSpPr>
        <p:grpSpPr>
          <a:xfrm>
            <a:off x="571500" y="4714875"/>
            <a:ext cx="3810000" cy="285900"/>
            <a:chOff x="571500" y="4714875"/>
            <a:chExt cx="3810000" cy="285900"/>
          </a:xfrm>
        </p:grpSpPr>
        <p:sp>
          <p:nvSpPr>
            <p:cNvPr id="219" name="Google Shape;219;p21"/>
            <p:cNvSpPr/>
            <p:nvPr/>
          </p:nvSpPr>
          <p:spPr>
            <a:xfrm>
              <a:off x="571500" y="4714875"/>
              <a:ext cx="381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571500" y="4714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Confidential – Internal Use Only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571500" y="47625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Q1 FY27 PRIORITIES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26" name="Google Shape;226;p22"/>
          <p:cNvGrpSpPr/>
          <p:nvPr/>
        </p:nvGrpSpPr>
        <p:grpSpPr>
          <a:xfrm>
            <a:off x="571500" y="1190625"/>
            <a:ext cx="3905400" cy="1047900"/>
            <a:chOff x="571500" y="1190625"/>
            <a:chExt cx="3905400" cy="1047900"/>
          </a:xfrm>
        </p:grpSpPr>
        <p:pic>
          <p:nvPicPr>
            <p:cNvPr id="227" name="Google Shape;227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190625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2"/>
            <p:cNvSpPr txBox="1"/>
            <p:nvPr/>
          </p:nvSpPr>
          <p:spPr>
            <a:xfrm>
              <a:off x="762000" y="1285875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ORDER CANCELLATION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&lt; 10% Rate</a:t>
              </a:r>
              <a:endParaRPr b="0" sz="2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Target reduction from current levels.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9" name="Google Shape;229;p22"/>
          <p:cNvGrpSpPr/>
          <p:nvPr/>
        </p:nvGrpSpPr>
        <p:grpSpPr>
          <a:xfrm>
            <a:off x="4667250" y="1190625"/>
            <a:ext cx="3905400" cy="1047900"/>
            <a:chOff x="4667250" y="1190625"/>
            <a:chExt cx="3905400" cy="1047900"/>
          </a:xfrm>
        </p:grpSpPr>
        <p:pic>
          <p:nvPicPr>
            <p:cNvPr id="230" name="Google Shape;230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0" y="1190625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2"/>
            <p:cNvSpPr txBox="1"/>
            <p:nvPr/>
          </p:nvSpPr>
          <p:spPr>
            <a:xfrm>
              <a:off x="4857750" y="1285875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DARK STORE UTILIZATION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75%+ Efficiency</a:t>
              </a:r>
              <a:endParaRPr b="0" sz="2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Optimizing operational throughput.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22"/>
          <p:cNvGrpSpPr/>
          <p:nvPr/>
        </p:nvGrpSpPr>
        <p:grpSpPr>
          <a:xfrm>
            <a:off x="571500" y="2381250"/>
            <a:ext cx="3905400" cy="1047900"/>
            <a:chOff x="571500" y="2381250"/>
            <a:chExt cx="3905400" cy="1047900"/>
          </a:xfrm>
        </p:grpSpPr>
        <p:pic>
          <p:nvPicPr>
            <p:cNvPr id="233" name="Google Shape;23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238125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22"/>
            <p:cNvSpPr txBox="1"/>
            <p:nvPr/>
          </p:nvSpPr>
          <p:spPr>
            <a:xfrm>
              <a:off x="762000" y="2476500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AI INVENTORY ROLLOUT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124 Stores</a:t>
              </a:r>
              <a:endParaRPr b="0" sz="2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AI-powered optimization in all locations.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4667250" y="2381250"/>
            <a:ext cx="3905400" cy="1047900"/>
            <a:chOff x="4667250" y="2381250"/>
            <a:chExt cx="3905400" cy="1047900"/>
          </a:xfrm>
        </p:grpSpPr>
        <p:pic>
          <p:nvPicPr>
            <p:cNvPr id="236" name="Google Shape;23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0" y="238125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2"/>
            <p:cNvSpPr txBox="1"/>
            <p:nvPr/>
          </p:nvSpPr>
          <p:spPr>
            <a:xfrm>
              <a:off x="4857750" y="2476500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SUSTAINABILITY TARGET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75% Packaging</a:t>
              </a:r>
              <a:endParaRPr b="0" sz="2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Achieving sustainable materials goal.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8" name="Google Shape;238;p22"/>
          <p:cNvGrpSpPr/>
          <p:nvPr/>
        </p:nvGrpSpPr>
        <p:grpSpPr>
          <a:xfrm>
            <a:off x="571500" y="3571875"/>
            <a:ext cx="8001000" cy="857400"/>
            <a:chOff x="571500" y="3571875"/>
            <a:chExt cx="8001000" cy="857400"/>
          </a:xfrm>
        </p:grpSpPr>
        <p:pic>
          <p:nvPicPr>
            <p:cNvPr id="239" name="Google Shape;239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357187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2"/>
            <p:cNvSpPr txBox="1"/>
            <p:nvPr/>
          </p:nvSpPr>
          <p:spPr>
            <a:xfrm>
              <a:off x="762000" y="3667125"/>
              <a:ext cx="762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CUSTOMER SATISFACTION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150"/>
                </a:spcAft>
                <a:buNone/>
              </a:pPr>
              <a:r>
                <a:rPr b="0" lang="en" sz="2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78+ Net Promoter Score (NPS)</a:t>
              </a:r>
              <a:endParaRPr b="0" sz="2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241" name="Google Shape;241;p22"/>
          <p:cNvCxnSpPr/>
          <p:nvPr/>
        </p:nvCxnSpPr>
        <p:spPr>
          <a:xfrm>
            <a:off x="571500" y="4572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22"/>
          <p:cNvSpPr txBox="1"/>
          <p:nvPr/>
        </p:nvSpPr>
        <p:spPr>
          <a:xfrm>
            <a:off x="571500" y="47148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Confidential – Internal Use Only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
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 Asia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Entry Strategy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Strategy Deck  |  Board Preparation  |  April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CONFIDENTIAL — NOT FOR EXTERNAL DISTRIBUTION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 | SEA Strategy | April 2026 |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82296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A — Strategic Context &amp; Rationale (Slides 3–7)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B — SEA Market Entry Financial Model (Slides 8–12)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C — Brand &amp; Creative Strategy (Slides 13–18)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D — Digital &amp; Social Playbook (Slides 19–23)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E — IndiGo Co-Branding &amp; Partnerships (Slides 24–28)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F — Customer Loyalty Programme (Slides 29–32)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73152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143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⬅  Signal for capital allocation decision in this section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International Expansion — Now?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 | SEA Strategy | April 2026 |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luggage market growing at 18% CAGR but increasingly competitive with 6 D2C entrants in FY25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 brand NPS of 72 — one of highest in lifestyle segment; brand equity ready for export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travellers to SEA exceed 4.2M annually — potential to leverage brand familiarity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B funding of $12M provides runway for international pilot without straining India capex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Uppercase has begun test-selling in UAE — first-mover advantage window is 12–18 months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2011680" cy="1005840"/>
          </a:xfrm>
          <a:prstGeom prst="rect">
            <a:avLst/>
          </a:prstGeom>
          <a:solidFill>
            <a:srgbClr val="F4F6F8"/>
          </a:solidFill>
          <a:ln w="6350">
            <a:solidFill>
              <a:srgbClr val="CDD5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794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 NPS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3749040"/>
            <a:ext cx="2011680" cy="1005840"/>
          </a:xfrm>
          <a:prstGeom prst="rect">
            <a:avLst/>
          </a:prstGeom>
          <a:solidFill>
            <a:srgbClr val="F4F6F8"/>
          </a:solidFill>
          <a:ln w="6350">
            <a:solidFill>
              <a:srgbClr val="CDD5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3794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06040" y="4343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Travellers to SEA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3749040"/>
            <a:ext cx="2011680" cy="1005840"/>
          </a:xfrm>
          <a:prstGeom prst="rect">
            <a:avLst/>
          </a:prstGeom>
          <a:solidFill>
            <a:srgbClr val="F4F6F8"/>
          </a:solidFill>
          <a:ln w="6350">
            <a:solidFill>
              <a:srgbClr val="CDD5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3794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54880" y="4343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Market CAGR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3749040"/>
            <a:ext cx="2011680" cy="1005840"/>
          </a:xfrm>
          <a:prstGeom prst="rect">
            <a:avLst/>
          </a:prstGeom>
          <a:solidFill>
            <a:srgbClr val="F4F6F8"/>
          </a:solidFill>
          <a:ln w="6350">
            <a:solidFill>
              <a:srgbClr val="CDD5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3794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$12M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903720" y="4343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B Runway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 Market Overview — Travel &amp; Lifestyle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 | SEA Strategy | April 2026 |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Markets: Singapore &amp; Malaysia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Singapore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Malaysia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GDP per Capita (USD)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$65,200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$12,400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Travel Spend (avg/HH)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$1,800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Luggage Market Size (₹ Cr equiv)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₹1,240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₹980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 Segment Share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Indian Diaspora Population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E-commerce Penetration (Retail 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 — SEA Luggage Brands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 | SEA Strategy | April 2026 |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Samsonite dominates premium tier with ~34% share across SEA; strong airport retail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Rimowa (LVMH) holds ultra-premium; not direct competition for Mokobara positioning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TUMI present in Singapore only; price point 4× Mokobara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SEA brands (Eagle Creek, Aerolite) compete in budget segment — minimal overlap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design-led Indian D2C brand currently has SEA retail presence — white space opportunity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channels (Lazada, Shopee) show 28% YoY growth in luggage category in Singapore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4F6F8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Risk: Samsonite's price-matching capability and existing distributor relationships may limit Mokobara's shelf access in Year 1.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Options Evaluated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 | SEA Strategy | April 2026 |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743200" cy="3931920"/>
          </a:xfrm>
          <a:prstGeom prst="rect">
            <a:avLst/>
          </a:prstGeom>
          <a:solidFill>
            <a:srgbClr val="F4F6F8"/>
          </a:solidFill>
          <a:ln w="6350">
            <a:solidFill>
              <a:srgbClr val="CDD5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822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Expansion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645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stores India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(10→20)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7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Lower risk, proven 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880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High competition, slower brand building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777240"/>
            <a:ext cx="2743200" cy="3931920"/>
          </a:xfrm>
          <a:prstGeom prst="rect">
            <a:avLst/>
          </a:prstGeom>
          <a:solidFill>
            <a:srgbClr val="0D9488"/>
          </a:solidFill>
          <a:ln w="6350">
            <a:solidFill>
              <a:srgbClr val="CDD5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822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 Entry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1645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 + Malaysia pilot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2377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First-mover, brand prestige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880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E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Higher capex, execution risk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777240"/>
            <a:ext cx="2743200" cy="3931920"/>
          </a:xfrm>
          <a:prstGeom prst="rect">
            <a:avLst/>
          </a:prstGeom>
          <a:solidFill>
            <a:srgbClr val="F4F6F8"/>
          </a:solidFill>
          <a:ln w="6350">
            <a:solidFill>
              <a:srgbClr val="CDD5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822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Line Extension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1645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into apparel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377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7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Asset-light growth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880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Outside core competency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Decision Framework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 | SEA Strategy | April 2026 |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criteria drive the recommendation: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7315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Potential (3-Year)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600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in Section B — financial model slides 8–12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73152" cy="64008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94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Efficiency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514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Revenue/Capex ratio comparison across both options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73152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08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Optionality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429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equity built in SEA creates platform for APAC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F4F6F8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69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Proceed to Section B for the quantified financial model supporting the SEA recommendation.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 Market Entry — Investment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 | SEA Strategy | April 2026 |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640080"/>
            <a:ext cx="9144000" cy="20116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583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B — FINANCIAL MODEL  |  Singapore + Malaysia Pilot  |  FY2026–FY2028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1920240" cy="1097280"/>
          </a:xfrm>
          <a:prstGeom prst="rect">
            <a:avLst/>
          </a:prstGeom>
          <a:solidFill>
            <a:srgbClr val="F4F6F8"/>
          </a:solidFill>
          <a:ln w="6350">
            <a:solidFill>
              <a:srgbClr val="CDD5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051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₹35 Cr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Capex Required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1005840"/>
            <a:ext cx="1920240" cy="1097280"/>
          </a:xfrm>
          <a:prstGeom prst="rect">
            <a:avLst/>
          </a:prstGeom>
          <a:solidFill>
            <a:srgbClr val="F4F6F8"/>
          </a:solidFill>
          <a:ln w="6350">
            <a:solidFill>
              <a:srgbClr val="CDD5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23160" y="1051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 Cr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2316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FY2026 Revenue Target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1005840"/>
            <a:ext cx="1920240" cy="1097280"/>
          </a:xfrm>
          <a:prstGeom prst="rect">
            <a:avLst/>
          </a:prstGeom>
          <a:solidFill>
            <a:srgbClr val="F4F6F8"/>
          </a:solidFill>
          <a:ln w="6350">
            <a:solidFill>
              <a:srgbClr val="CDD5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80560" y="1051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₹72 Cr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48056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Cumul. Revenue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37960" y="1005840"/>
            <a:ext cx="1920240" cy="1097280"/>
          </a:xfrm>
          <a:prstGeom prst="rect">
            <a:avLst/>
          </a:prstGeom>
          <a:solidFill>
            <a:srgbClr val="F4F6F8"/>
          </a:solidFill>
          <a:ln w="6350">
            <a:solidFill>
              <a:srgbClr val="CDD5D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37960" y="1051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2.1×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53796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/ Capex Ratio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Allocation Breakdown (₹ Crore):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974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8288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 (₹ Cr)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Singapore — Store Fit-Out &amp; Deposit (2 stores)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₹14.0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Orchard Road + Changi Airport retail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Malaysia — Store Fit-Out &amp; Deposit (1 store)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₹6.0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 Valley Megamall, Kuala Lumpur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Distribution &amp; Logistics Hub Setup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₹5.0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3PL partnership with DHL Singapore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Commerce (Lazada/Shopee) Setup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 onboarding + catalogue localisation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 &amp; Launch Campaign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₹5.0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Regional influencer + OOH + digital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 Capital Reserve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3-month operating buffer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Capex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₹35.0 Cr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Subject to board approval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 Revenue Model — FY2026 (Year 1)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 | SEA Strategy | April 2026 |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 &amp; Malaysia Combined | Base Case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288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Driver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Singapore (₹ Cr)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Malaysia (₹ Cr)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(₹ Cr)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Retail Stores (2 SG + 1 MY)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— Lazada / Shopee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Travel Retail (Changi Airport)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 / Corporate (local)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FY2026 Revenue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7E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Assumptions — FY2026: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3375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productivity: ₹3.75 Cr/store/year (Singapore); ₹3.5 Cr/store/year (Malaysia) — Year 1 ramp discount of 30%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channel: 2.8% conversion rate on 180,000 unique monthly visitors across both markets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 Airport kiosk: Pilot 6-month activation; ₹0.25 Cr/month average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assumption: SGD/INR at 63.5 and MYR/INR at 19.2 (treasury spot rates)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revenue reported in ₹ Crore equivalent at prevailing exchange rates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 Revenue Model — FY2027 (Year 2)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 | SEA Strategy | April 2026 |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Phase: +1 Store Singapore, Online Acceleration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288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Driver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Singapore (₹ Cr)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Malaysia (₹ Cr)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(₹ Cr)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Retail Stores (3 SG + 1 MY)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— Lazada / Shopee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Travel Retail (Changi Airport)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 / Corporate (local)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FY2027 Revenue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7E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Drivers vs FY2026: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3375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 Singapore store (Jewel Changi): adds ₹3.5 Cr incremental annualised revenue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channel growth 70% YoY as brand recognition builds — referral loop from Indian travellers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Full-year contribution of FY2026 stores (vs. partial-year in Year 1)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Malaysia expansion: additional SKU localisation complete; Hindi/Malay dual-language packaging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 Revenue Model — FY2028 (Year 3)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 | SEA Strategy | April 2026 |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Consolidation Phase: Profitability &amp; Break-Even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288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Driver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Singapore (₹ Cr)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Malaysia (₹ Cr)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(₹ Cr)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Retail Stores (3 SG + 2 MY)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— Lazada / Shopee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Travel Retail (Changi Airport)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 / Corporate (local)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FY2028 Revenue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7E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F4F6F8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971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SEA Summary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(₹ Cr)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Cumulative (₹ Cr)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vs. Prior Year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FY2026 (Year 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FY2027 (Year 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FY2028 (Year 3)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 (consolidation)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 Entry — Risk Assessment &amp; Sensitivity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 | SEA Strategy | April 2026 |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 ₹72 Cr | Bear ₹48 Cr | Bull ₹95 Cr (3-Year Cumulative)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8595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097280"/>
                <a:gridCol w="1097280"/>
                <a:gridCol w="201168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Factor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Likelihood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Impact (₹ Cr)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FX depreciation (SGD/INR moves &gt;5%)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-₹4 to -₹7 Cr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Natural hedge via local costs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Distributor access delays in Singapore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-₹8 to -₹12 Cr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D2C launch first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platform commission increase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-₹2 to -₹3 Cr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Multi-platform presence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 recognition gap — slower ramp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-₹6 to -₹10 Cr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Indian diaspora seeding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Regulatory import duty changes (MY)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-₹1 to -₹2 Cr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assembly option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5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566160"/>
            <a:ext cx="8595360" cy="914400"/>
          </a:xfrm>
          <a:prstGeom prst="rect">
            <a:avLst/>
          </a:prstGeom>
          <a:solidFill>
            <a:srgbClr val="F4F6F8"/>
          </a:solidFill>
          <a:ln w="6350">
            <a:solidFill>
              <a:srgbClr val="CDD5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3611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B CONCLUSION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3886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 entry generates ₹72 crore over 3 years at ₹35 crore capex (Revenue/Capex: 2.1×). Bear case remains positive at ₹48 crore. Proceed to Section C for brand execution plan.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C — Brand &amp; Creative Strategy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Mokobara as the design-led travel companion for the aspirational Asian traveller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INTERNAL USE ONLY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Positioning in SEA — The Mokobara Identity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 | SEA Strategy | April 2026 |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Position: 'Designed for the Modern Asian Traveller — Born in India, Built for the World'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brand pillars: Design-led, Durable, Joyful, Aspirational yet Accessible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positioning: SGD 180–420 / MYR 480–1100 — premium but accessible vs. Rimowa/TUMI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voice: Confident, Warm, Witty — not corporate, not overly luxe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Anti-positioning: NOT a luggage brand — a travel companion brand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Product Selection for SEA Launch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 | SEA Strategy | April 2026 |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SKU: The Transit Pro (24") — Bestseller in India, universal appeal, 4 colourways for SEA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Bundle: Transit Pro + Cabin Max + Packing Cubes — designed for 'the long weekend'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 Exclusive: Coral Terracotta colourway — developed post focus groups in Singapore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point: SGD 220 (Transit Pro) — positioned at Samsonite Lite-Shock level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edition: Batik-inspired lining print for Malaysia market — cultural resonance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 &amp; Unboxing Experience — SEA Edition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 | SEA Strategy | April 2026 |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Unboxing is the first physical brand moment for most customers — must be Instagram-worthy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 kraft outer box with embossed Mokobara wordmark in gold foil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tissue: Signature yellow (brand colour) with 'Joy of travel' embossed message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Inserted card: personalised thank-you + QR code linking to travel playlist curated by team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packaging: 80% recycled materials — sustainability story for SEA audience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Identity Adaptation — Local Aesthetic Sensibilities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 | SEA Strategy | April 2026 |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Singapore: Clean minimalism resonates — less is more; Scandinavian-adjacent aesthetic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Malaysia: Warmer tones accepted; cultural pattern elements welcome in accessories (not luggage)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markets: English-language primary; Malay/Mandarin subtitles on digital assets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Typography: Retain Mokobara wordmark; add Chinese characters version for Mandarin OOH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adaptation: Coral Terracotta outperforms in MY; Steel Grey preferred in SG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Ambassador Strategy — SEA Market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 | SEA Strategy | April 2026 |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Singapore: Leverage Indian-Singaporean travel influencers (100K–500K follower tier)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Malaysia: Partner with travel-lifestyle KOLs with high Malay middle-class following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celebrity mega-partnerships in Year 1 — micro-influencer seeding strategy preferred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Budget: ₹1.8 Cr allocated to ambassador programme across both markets in FY2026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Each ambassador drives minimum 500 website visits and 50 tracked conversions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D — Digital &amp; Social Playbook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Mokobara's community in Southeast Asia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INTERNAL USE ONLY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Strategy — Instagram &amp; TikTok SEA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 | SEA Strategy | April 2026 |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50,000 Instagram followers in SG+MY by end FY2026; 20,000 TikTok followers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pillars: Travel diaries, Unboxing moments, City-specific content (Marina Bay, KLCC)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Posting cadence: 5× Instagram posts/week, 3× Reels, 2× TikTok videos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strategy: Behind-the-scenes manufacturing, Founder travel vlogs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management: 2-hour response SLA on all comments and DMs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Marketing — Lazada &amp; Shopee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 | SEA Strategy | April 2026 |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Lazada: Join LazyMall premium programme — brand store with curated layout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Shopee: Participate in 9.9, 11.11, 12.12 mega-sale events with exclusive bundles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ads: SGD 8,000/month on Lazada Sponsored Discovery; MYR 5,000/month on Shopee Ads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listing optimisation: A/B test 3 title variants per SKU; update images quarterly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&amp; reviews: Target 4.8+ star rating; respond to all &lt;4-star reviews within 24 hours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&amp; Content Calendar — FY2026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 | SEA Strategy | April 2026 |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1: Launch content — 'Meet Mokobara' series, Founder story, Product origin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2–3: Travel destination content — SG/MY landmark photography with products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4–6: User-generated content push — #MokobaraSEA hashtag campaign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focus: 'best luggage Singapore', 'travel bag Malaysia', 'Indian luggage brand Asia'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Blog: 2 long-form articles/month on mokobara.com targeting SEA travel search intent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&amp; Email Marketing — SEA Onboarding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 | SEA Strategy | April 2026 |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flow: 5-email sequence triggered by first purchase (Day 0, 3, 7, 14, 30)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Personalisation: Language preference, travel frequency, product category interest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nudge: After 2nd purchase, invite to Moko Passport loyalty programme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Reactivation: 90-day dormancy trigger — 'We miss you' email with 10% discount code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Integrate Klaviyo with Shopify SEA storefront; PDPA (Singapore) compliance built-in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E — IndiGo Co-Branding &amp; Partnerships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Leveraging the Moko6E success to build SEA airline partnerships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INTERNAL USE ONLY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Moko6E Case Study — India Partnership Learnings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 | SEA Strategy | April 2026 |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Moko6E (IndiGo collaboration) launched Dec 2024 — 2kg additional baggage allowance for Moko6E owners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 4,200 Moko6E units in first 60 days — highest single-campaign sellout in brand history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awareness uplift: +12 NPS points in cities with IndiGo hub airports post-launch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structure: Revenue share — Mokobara pays ₹180/unit to IndiGo for baggage benefit branding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Learnings: Airport lounge activations drove 3× higher conversion than in-terminal OOH ads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SEA Airline Partnership — Scoot &amp; AirAsia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 | SEA Strategy | April 2026 |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Scoot (Singapore): Proposed partnership — 'MokoScoot' co-branded cabin bag; 2kg SEA allowance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AirAsia (Malaysia): 'MokoAir' edition in signature AirAsia red; premium carry-on positioning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LOI target by Q2 FY2026; product development Q3; launch Q4 FY2026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terms to be negotiated: Revenue share vs. fixed fee model TBD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Airline partnerships require 9–12 month lead time; Year 1 SEA revenue model does NOT include this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Retail Strategy — Changi &amp; KLIA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 | SEA Strategy | April 2026 |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 Airport Terminal 3: 42 sqm kiosk — premium travel retail zone adjacent to departure gates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KLIA2 (Kuala Lumpur Budget Terminal): Pop-up concept targeting AirAsia + Scoot passengers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 pricing: +15% premium vs. e-commerce — travellers accept airport pricing premium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merchandising: 'India Craft Meets Modern Design' narrative; artisan handloom accent panels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Staffing: 2 brand ambassadors per shift; local hires with travel industry background preferred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Co-Branding Execution Roadmap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 | SEA Strategy | April 2026 |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FY2026: Launch Singapore D2C + Lazada/Shopee; begin Changi kiosk activation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FY2026: Open Mid Valley store Malaysia; begin Scoot/AirAsia LOI negotiations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FY2026: Open 2nd Singapore retail store; launch SEA influencer ambassador programme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FY2026: Holiday campaign — 'Travel Better' gifting push; review Year 1 actuals vs. plan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FY2027: Expand to 3rd SG store; explore Thailand and Indonesia as next SEA markets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F — Moko Passport Loyalty Programme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Mokobara community in SEA through travel rewards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INTERNAL USE ONLY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 Passport — Programme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 | SEA Strategy | April 2026 |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structure: Explorer (0–1 purchases), Voyager (2–4), Globetrotter (5+)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Points: ₹1 spent = 1 Moko Mile; redeemable for accessories, discounts, travel experiences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Globetrotter perks: Early access to new launches, free personalisation, airport meet &amp; greet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SEA-specific perk: Partner with GoTo Travel (Indonesia) and Agoda for hotel reward redemptions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Digital-first: Moko Passport app — integrates purchase history, travel log, community feed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Economics &amp; Unit Economics per Member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 | SEA Strategy | April 2026 |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loyalty member: ₹120 (points issuance + programme ops)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repeat purchase rate: 22% in India cohort → target 18% in SEA Year 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uplift: Members purchase 2.4× more frequently than non-members (India data)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Break-even: Loyalty programme NPV positive at 8,000+ enrolled SEA members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12,000 enrolled SEA members by end FY2026; 35,000 by end FY2027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Board approval of ₹35 Cr SEA capex (Decision required by May 15, 2026)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Appoint SEA Country Head — Singapore-based, travel retail background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Execute Singapore lease — Orchard Central shortlisted (LOI ready)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Initiate Lazada/Shopee brand store onboarding (6-week lead time)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MOKOBARA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 Strategy | Board Deck | April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D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NOT FOR EXTERNAL DISTRIBUTION | © Mokobara India Pvt Ltd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Mokobara SEA Market Entry Strategy</dc:title>
  <dc:subject>PptxGenJS Presentation</dc:subject>
  <dc:creator>Mokobara Strategy Team</dc:creator>
  <cp:lastModifiedBy>Mokobara Strategy Team</cp:lastModifiedBy>
  <cp:revision>1</cp:revision>
  <dcterms:created xsi:type="dcterms:W3CDTF">2026-04-19T08:51:27Z</dcterms:created>
  <dcterms:modified xsi:type="dcterms:W3CDTF">2026-04-19T08:51:27Z</dcterms:modified>
</cp:coreProperties>
</file>
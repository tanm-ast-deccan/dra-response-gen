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Fby/jO9Km2KxGgJgZlzRsUkBG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335B5B-D5AA-472B-8F6B-71129E290B35}">
  <a:tblStyle styleId="{6E335B5B-D5AA-472B-8F6B-71129E290B35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489527" y="434109"/>
            <a:ext cx="1117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Supplementary </a:t>
            </a:r>
            <a:r>
              <a:rPr b="1" lang="en-US" sz="2800" u="sng">
                <a:solidFill>
                  <a:srgbClr val="FF0000"/>
                </a:solidFill>
              </a:rPr>
              <a:t>Bain’s</a:t>
            </a:r>
            <a:r>
              <a:rPr b="1" i="0" lang="en-US" sz="2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Recommendation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618492" y="932535"/>
            <a:ext cx="20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</a:t>
            </a:r>
            <a:r>
              <a:rPr b="1" lang="en-US" sz="1800">
                <a:solidFill>
                  <a:schemeClr val="dk1"/>
                </a:solidFill>
              </a:rPr>
              <a:t>1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232434" y="932539"/>
            <a:ext cx="20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</a:t>
            </a:r>
            <a:r>
              <a:rPr b="1" lang="en-US" sz="1800">
                <a:solidFill>
                  <a:schemeClr val="dk1"/>
                </a:solidFill>
              </a:rPr>
              <a:t>2</a:t>
            </a:r>
            <a:endParaRPr/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765936" y="1411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{6E335B5B-D5AA-472B-8F6B-71129E290B35}</a:tableStyleId>
              </a:tblPr>
              <a:tblGrid>
                <a:gridCol w="2060000"/>
                <a:gridCol w="2060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Demand Scenario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Probability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Low Demand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3" name="Google Shape;93;p1"/>
          <p:cNvGraphicFramePr/>
          <p:nvPr/>
        </p:nvGraphicFramePr>
        <p:xfrm>
          <a:off x="6432512" y="1357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{6E335B5B-D5AA-472B-8F6B-71129E290B35}</a:tableStyleId>
              </a:tblPr>
              <a:tblGrid>
                <a:gridCol w="2060000"/>
                <a:gridCol w="2060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Demand Scenario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Probability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Low Demand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0.4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4" name="Google Shape;94;p1"/>
          <p:cNvCxnSpPr/>
          <p:nvPr/>
        </p:nvCxnSpPr>
        <p:spPr>
          <a:xfrm>
            <a:off x="5761589" y="1535230"/>
            <a:ext cx="14025" cy="515651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5" name="Google Shape;95;p1"/>
          <p:cNvGraphicFramePr/>
          <p:nvPr/>
        </p:nvGraphicFramePr>
        <p:xfrm>
          <a:off x="701385" y="26066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{6E335B5B-D5AA-472B-8F6B-71129E290B35}</a:tableStyleId>
              </a:tblPr>
              <a:tblGrid>
                <a:gridCol w="2633875"/>
                <a:gridCol w="2102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Demand Scenario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Expected Cash Flows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High Demand Year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50,00,000 Rs.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Low Demand Year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10,00,000 Rs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High Demand Year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80,00,000 Rs.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Low Demand Year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30,00,000 Rs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6" name="Google Shape;96;p1"/>
          <p:cNvSpPr txBox="1"/>
          <p:nvPr/>
        </p:nvSpPr>
        <p:spPr>
          <a:xfrm>
            <a:off x="701385" y="4914725"/>
            <a:ext cx="441943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demand scenarios for both years of Phase </a:t>
            </a:r>
            <a:r>
              <a:rPr lang="en-US" sz="1800">
                <a:solidFill>
                  <a:schemeClr val="dk1"/>
                </a:solidFill>
              </a:rPr>
              <a:t>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same i.e., either High or Low</a:t>
            </a:r>
            <a:endParaRPr/>
          </a:p>
        </p:txBody>
      </p:sp>
      <p:graphicFrame>
        <p:nvGraphicFramePr>
          <p:cNvPr id="97" name="Google Shape;97;p1"/>
          <p:cNvGraphicFramePr/>
          <p:nvPr/>
        </p:nvGraphicFramePr>
        <p:xfrm>
          <a:off x="6274865" y="251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{6E335B5B-D5AA-472B-8F6B-71129E290B35}</a:tableStyleId>
              </a:tblPr>
              <a:tblGrid>
                <a:gridCol w="2997825"/>
                <a:gridCol w="2392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Demand Scenario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Expected Cash Flows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High Demand Year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50,00,000 Rs.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Low Demand Year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10,00,000 Rs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High Demand Year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80,00,000 Rs.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Low Demand Year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30,00,000 Rs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High Demand Year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70,00,000 Rs.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Low Demand Year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20,00,000 Rs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High &amp; Low Demand Year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50,00,000 Rs.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High &amp; Low Demand Year 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60,00,000 Rs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8" name="Google Shape;98;p1"/>
          <p:cNvSpPr txBox="1"/>
          <p:nvPr/>
        </p:nvSpPr>
        <p:spPr>
          <a:xfrm>
            <a:off x="6274852" y="6118475"/>
            <a:ext cx="539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demand scenarios for all 5 years of Phase </a:t>
            </a:r>
            <a:r>
              <a:rPr lang="en-US" sz="1800">
                <a:solidFill>
                  <a:schemeClr val="dk1"/>
                </a:solidFill>
              </a:rPr>
              <a:t>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same i.e., either High or 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2026-03-23T18:47:07Z</dcterms:created>
  <dc:creator>Thapan, Shashank</dc:creator>
</cp:coreProperties>
</file>
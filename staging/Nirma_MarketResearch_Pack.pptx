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NIRMA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7F7F"/>
                </a:solidFill>
              </a:defRPr>
            </a:pPr>
            <a:r>
              <a:t>Market Research Pack — Detergent Business — FY26 Planning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743200"/>
            <a:ext cx="112471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Prepared by: Corporate Insights &amp; Research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Version: Draft 4 | 22-March-2026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7F7F"/>
                </a:solidFill>
              </a:defRPr>
            </a:pPr>
            <a:r>
              <a:t>22 slides covering six research workstreams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Section 1 (Slides 3–7): Founder story, brand heritage, iconic advertising retrospective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Section 2 (Slides 8–10): Global detergent category benchmarks (US, EU, China)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Section 3 (Slides 11–13): India FMCG macro environment, rural vs. urban trends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Section 4 (Slides 14–16): India detergent market size, premium tier dynamics   ← RELEVANT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Section 5 (Slides 17–18): Nirma's current position across tiers                ← RELEVANT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Section 6 (Slides 19–22): Consumer research findings, D2C landscape, CSR recap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The Karsanbhai Patel Story — 1969 to 1980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1969: Karsanbhai Patel begins producing detergent in his backyard at Ruparel village near Mehsana, Gujarat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He cycles door-to-door selling detergent sachets at Rs 3/kg when Surf was priced at Rs 13/kg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By 1972, monthly sales cross Rs 1 lakh and Karsanbhai quits his government job at the Gujarat Mineral Development Corporation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1974: The first mechanised plant at Saraspur, Ahmedabad — capacity 100 tonnes/month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1977: Nirma becomes the first Indian detergent brand to challenge HLL's Surf at a national scale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1980: Volumes cross 2,000 tonnes/month, cementing regional leadership in western and northern India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The Nirma story is widely taught in Indian business schools as a foundational case of disruptive innovation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through cost leadership, and remains a cultural reference point for Indian entrepreneurship.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The Iconic Jingle (1982–Present)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'Washing powder Nirma, washing powder Nirma,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doodh si safedi, Nirma se aaye, rangeen kapda bhi khil khil jaaye...'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Key facts about the jingle, composed by Kamlesh Pandey and sung by Hemlata: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First aired on Vividh Bharati (AIR) in 1982; television adaptation followed in 1985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Featured the founder's daughter Nirupama ('Nirma') in a white frock — the most recognised detergent mascot in India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2023 brand recall survey: 94% recognition among Indian consumers aged 35–65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The Times of India ranked the jingle #3 on its '25 Most Iconic Indian Advertisements of All Time' list (2018)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Note: The jingle is an asset for mass-tier brand equity but creates positioning friction for premium re-entry.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Historical Advertising Campaigns — Retrospective (1985–2010)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 Period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Creative Theme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Consumer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Estimated Spend (Rs Cr)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1985–1990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Doodh Si Safedi (Milk-white clean)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Price-conscious homemaker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1991–1996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Nirma Super — Upgrade at same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Upgrading mass consumer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1997–2002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Beauty Soap — Sonali, Sushmita, Preity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Aspirational mass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2003–2008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Nima — Premium Liquid Detergent (exit 2012)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Mid-premium urban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2009–2015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Back to Basics — Value Reassurance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Core mass consumer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52.0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2016–2020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Digital + Regional Language 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Tier-2/3/4 consumers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2021–2025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Heritage + Modern Value proposition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Multi-generational mass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142.0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Lessons from the 'Nima' Premium Attempt (2003–2012)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Nirma's previous attempt at premium positioning was the 'Nima' sub-brand, launched in 2003.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What went wrong: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Brand architecture too close to mother brand ('Nirma') — failed to signal premium credibly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Pricing at Rs 90/kg against Surf Excel at Rs 110/kg — insufficient premium gap to trade shoppers up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Distribution leveraged existing wholesale channel — premium retail placement was weak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No focused A&amp;P — under-invested at Rs 18 Cr/yr vs. Surf Excel's Rs 180+ Cr/yr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Peak Year-3 revenue of Rs 140 Cr; declining from Year-5; wound down quietly by 2012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Implication for current re-entry: A new brand architecture, distinct retail channel, and materially larger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A&amp;P commitment are prerequisites. The Strategy Office recommends against reviving the 'Nima' nameplate.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Recognitions and Honours — Karsanbhai Patel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Padma Shri (2010) — Government of India, for Trade and Industry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Udyog Ratna Award — Gujarat Chamber of Commerce (1998)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Gujarat Businessman of the Year — 1991, 1998, 2004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Honorary Doctorate — Florida Atlantic University (2001)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Ernst &amp; Young Entrepreneur of the Year — Lifetime Achievement (2006)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Listed on Forbes India Rich List every year from 2008 through 2022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Founded Nirma University (2003) — now ranked among top 20 private universities in India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Founded Nirma Memorial Trust — runs 14 rural health centres across Gujarat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Global Laundry Detergent Market — 2024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Size (USD Bn)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5-Yr CAGR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Liquid Penetration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Leading Brand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North America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$22.4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Tide (P&amp;G)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Western 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Ariel (P&amp;G)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China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$14.6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Blue Moon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Surf Excel (HUL)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Latin America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$8.1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Omo (Unilever)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Ariel (P&amp;G)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ROW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Various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Developed Markets — Premium and Liquid Dominance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The US and Western European markets are instructive as a forward look at where India may arrive in 7–10 years.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Key observations: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Powder detergent is a declining category in developed markets — value declines at 2–3% CAGR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Liquid detergent has become the default format, with ultra-concentrated 'unit dose' (pods/capsules) now ~28% of US value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Eco-labelled detergents (EcoLabel EU, Safer Choice US) command a 15–25% price premium and are growing 2x segment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Private label has plateaued at 22–24% share in the US; lower at ~14% in Western Europe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These trends point directionally to where the India premium segment is headed, but the timing and depth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of the India transition remain uncertain. This pack does not project India trends from global analogues.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China Premium Detergent — 2015 to 2024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China's premium detergent segment is used as a closer analogue for India due to similar income trajectories.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2015: Premium tier was 18% of total detergent value; liquid was 21% of total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2020: Premium tier 29% of value; liquid 33% of value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2024: Premium tier 38% of value; liquid 42% of value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CAGR for the Chinese premium tier over 2015–2024 was ~11.2%, broadly consistent with India's current FY25 growth.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Analytical caveat: Do NOT extrapolate India forward growth directly from China. India has different distribution,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water hardness, washing-machine penetration, and price-elasticity profiles. Nielsen's India-specific forecast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(see Slide 14) is the authoritative reference for this Board brief.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India FMCG Macro Environment — FY25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Total India FMCG value: ~Rs 6.2 lakh Cr in FY25 (Nielsen India)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FMCG real volume growth: +4.8% in FY25 vs. +2.1% in FY24 — reflecting rural recovery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Home &amp; Personal Care share of FMCG: 32% (up from 30% in FY20)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Detergent share of Home Care: 58% by value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Direct distribution coverage: ~13 lakh retail outlets directly; ~95 lakh covered indirectly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E-commerce share of FMCG: 11.2% in FY25, up from 7.1% in FY22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Modern Trade share: 13.8%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General Trade share: 75.0% — still dominant for detergent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Inflation in FMCG basket moderated to 4.3% in H2 FY25 from 6.9% in H1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Rural vs. Urban Consumption Split — Detergent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Rural India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Urban India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India Total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Household Penetration — Detergent Powder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Household Penetration — Detergent Liquid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Avg Per-Capita Detergent Spend (Rs/yr)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1,240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Modern Trade Share of Detergent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E-commerce Share of Detergent 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Premium Tier Share of Detergent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Nirma Brand Preference (Share of Voice)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Rural Distribution Reach — Company Asset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Nirma's direct-reach distribution is a strategic asset that MNC competitors struggle to replicate.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Direct distribution: 780,000 retail outlets, +4.2% vs. FY24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Rural outlet coverage: 62% of total direct outlets (vs. HUL ~48%, P&amp;G ~22% for detergent)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Stockist network: 1,420 stockists across 28 states / 8 UTs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Average van-sales route frequency: 11 days (rural); 5 days (urban)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Distributor capital deployed: ~Rs 820 Cr (collective, FY25)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This distribution edge is assumed to compress MNC response effectiveness by 6–9 months in the Premium Re-Entry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India Detergent Market — Size and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7F7F"/>
                </a:solidFill>
              </a:defRPr>
            </a:pPr>
            <a:r>
              <a:t>Nielsen India FMCG Retail Audit, Nov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FY25 Size (Rs Cr)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FY30E Size (Rs Cr)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5-Yr CAGR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FY25 Margin (EBITDA)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Mass / Economy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4.4%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8–10%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Mid-Tier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11–13%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Premium (≥ Rs 240/kg eqv.)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14–17%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Liquid (all tiers)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13–16%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Detergent Bars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8,200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8,900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1.6%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6–8%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INDIA DETERGENT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146,700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521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504D"/>
                </a:solidFill>
              </a:defRPr>
            </a:pPr>
            <a:r>
              <a:t>KEY SIGNAL: Premium tier is the only sub-segment with double-digit forward growth and attractive EBITDA margin profile.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Premium Tier — Share Structure FY25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Brand (Parent)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Premium Tier Revenue (Rs Cr)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 of Premium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Flagship SKU Price/kg (Rs)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Surf Excel (HUL)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7,560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Ariel Matic (P&amp;G)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Tide Plus (P&amp;G)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1,980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Godrej Ezee (Godrej)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Bosch / LG OEM co-brand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D2C / Others combined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PREMIUM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Addressable Premium Footprint for Nirma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Per Corporate Strategy's assessment, Nirma can realistically serve the following share of the premium segment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via its existing distribution network plus a modest ~Rs 40 Cr of incremental trade investment: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Metros (top 8 cities): 100% of footprint — accounts for 28% of all-India premium segment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Tier-1 cities (58 cities): 100% of footprint — accounts for 22% of all-India premium segment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Tier-2 cities (188 cities): 85% of footprint — accounts for ~14% of all-India premium segment (~12% net)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Tier-3 towns: 40% of footprint — accounts for ~10% of all-India premium segment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Rural: Not served by premium SKU distribution in the horizon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Aggregate addressable footprint: 72% of the all-India premium segment.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→ Serviceable Addressable Market (SAM) for FY30 = Rs 32,000 Cr × 72% = Rs 23,040 Cr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Nirma Detergent Segment — Tier Breakdown FY25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7F7F"/>
                </a:solidFill>
              </a:defRPr>
            </a:pPr>
            <a:r>
              <a:t>IMPORTANT: Values shown are PRE-DIVESTMENT / PRE-DEMERGER reported revenues. Refer to Note 7 of Financial Brief for continuing-operations adjustment.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Nirma FY25 Revenue (Rs Cr)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 Mkt Size (Rs Cr)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Nirma Share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Mass / Economy Detergent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2,180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42,000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Core business — defend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Mid-Tier Detergent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Sub-scale — grow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Premium Detergent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RE-ENTRY SUBJECT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Soda Ash (industrial input — DEMERGED Jan-2026)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continuing ops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DETERGENT SEGMENT (Reported)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3,240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Headline — pre-adjust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DETERGENT (Continuing Ops)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Basis for projection 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35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C0504D"/>
                </a:solidFill>
              </a:defRPr>
            </a:pPr>
            <a:r>
              <a:t>* Soda Ash sub-unit demerged into Nirma Chemicals Ltd effective 31-Jan-2026 per NCLT order. ** Continuing Ops basis mandated by Board Minute 14-Mar-2026.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Manufacturing &amp; Supply Chain — Premium Readiness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Existing detergent capacity: 1.4 MT/annum across Kalol, Mandali, Moraiya, Bhavnagar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Blended utilisation FY25: 82% — limited headroom for incremental premium volumes without capex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Proposed capex Rs 450 Cr breakdown: Rs 240 Cr new premium line (Kalol), Rs 110 Cr R&amp;D + pilot, Rs 60 Cr packaging automation, Rs 40 Cr trade infrastructure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Raw material strategy: LAB sulfonation in-house, enzyme &amp; perfume sourced from BASF / Novozymes / IFF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Lead time for commissioning new line: 14 months from Board approval</a:t>
            </a:r>
          </a:p>
          <a:p>
            <a:pPr>
              <a:spcAft>
                <a:spcPts val="8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EBITDA margin assumption for premium SKU: 15.5% (per Board Mandate assumption)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Consumer Research — Focus Group Highlights (Mumbai, Pune, Ahmedabad)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Key verbatims from Nov-2025 focus groups (n=48 across 6 sessions):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'Nirma reminds me of my mother's kitchen — in a good way. But I wouldn't buy it for my silk saree.' — F, 34, Mumbai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'If Nirma made a Matic Surf alternative at Rs 180, I'd try it once.' — F, 41, Pune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'The brand needs a new name for premium. Nirma is Rs 60/kg in my mind.' — M, 38, Ahmedabad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'My machine warranty says only premium detergent. That rules out regular Nirma immediately.' — F, 29, Mumbai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Research implication: sub-brand architecture with distinct identity is critical. Mother-brand endorsement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should be minimal in advertising ('from the house of Nirma' at most).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D2C and Emerging Detergent Brands — Scan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Positioning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FY25 Revenue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Funding Status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Better Home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Plant-based, eco-premium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Rs 48 Cr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Series B, Rs 180 Cr raised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Koparo Clean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Non-toxic, sensitive skin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Rs 62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Series B, Rs 140 Cr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Earthy Origins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Eco-premium, refillable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Rs 38 Cr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Series A, Rs 65 Cr raised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Frangipani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Fragrance-led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Rs 22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Seed, Rs 12 Cr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Puro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Baby-safe detergent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Rs 18 Cr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Others (long tail)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Rs 180–240 Cr combined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D2C TOTAL ESTIMATE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Rs 370–420 Cr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  <a:latin typeface="Calibri"/>
              </a:defRPr>
            </a:pPr>
            <a:r>
              <a:t>CSR and Sustainability Recap — Detergent Segment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FY25 segment-attributed CSR spend: Rs 14 Cr (of Rs 38 Cr company total)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Water reduction: specific freshwater consumption down 22% FY20–FY25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Packaging: 11% reduction in plastic intensity; 18% of packaging now uses recycled content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Phosphate reduction: premium formulation is zero-phosphate; mass formulation phosphate reduced by 40%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Solar power: 18 MW installed across Kalol and Mandali, ~28% of captive electricity needs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While sustainability is tracked rigorously, the Strategy Office notes that willingness-to-pay for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sustainability-led premium pricing in India is still limited outside the top 2 urban income deciles.</a:t>
            </a:r>
          </a:p>
          <a:p>
            <a:pPr>
              <a:spcAft>
                <a:spcPts val="8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Sustainability should be positioned as a feature-level enabler, not as the core premium price justification.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Summary &amp; Board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7F7F"/>
                </a:solidFill>
              </a:defRPr>
            </a:pPr>
            <a:r>
              <a:t>Key signals for the decision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11247120" cy="0"/>
          </a:xfrm>
          <a:prstGeom prst="line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1. Premium detergent tier is the only segment with &gt;12% forward growth and 14–17% EBITDA margin.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</a:defRPr>
            </a:pPr>
            <a:r>
              <a:t>2. Nirma's current premium presence is negligible (0.3% share, Rs 60 Cr).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3. Forward projections MUST be built on CONTINUING-OPERATIONS detergent revenue base.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</a:defRPr>
            </a:pPr>
            <a:r>
              <a:t>4. The Soda Ash sub-unit is no longer part of continuing operations (NCLT demerger, 31-Jan-2026).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5. Serviceable Addressable Market for FY30 is ~Rs 23,040 Cr (72% of Rs 32,000 Cr).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</a:defRPr>
            </a:pPr>
            <a:r>
              <a:t>6. Target SOM of 14% → Year-5 premium revenue of ~Rs 3,220 Cr (incremental).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7. Board hurdle rate: 18.0% IRR on Rs 450 Cr capex. Decision is quantitative, not qualitative.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